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22"/>
  </p:notesMasterIdLst>
  <p:sldIdLst>
    <p:sldId id="282" r:id="rId2"/>
    <p:sldId id="283" r:id="rId3"/>
    <p:sldId id="263" r:id="rId4"/>
    <p:sldId id="259" r:id="rId5"/>
    <p:sldId id="260" r:id="rId6"/>
    <p:sldId id="271" r:id="rId7"/>
    <p:sldId id="261" r:id="rId8"/>
    <p:sldId id="262" r:id="rId9"/>
    <p:sldId id="285" r:id="rId10"/>
    <p:sldId id="264" r:id="rId11"/>
    <p:sldId id="275" r:id="rId12"/>
    <p:sldId id="272" r:id="rId13"/>
    <p:sldId id="269" r:id="rId14"/>
    <p:sldId id="273" r:id="rId15"/>
    <p:sldId id="274" r:id="rId16"/>
    <p:sldId id="286" r:id="rId17"/>
    <p:sldId id="266" r:id="rId18"/>
    <p:sldId id="281" r:id="rId19"/>
    <p:sldId id="257" r:id="rId20"/>
    <p:sldId id="265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A260"/>
    <a:srgbClr val="181F40"/>
    <a:srgbClr val="090919"/>
    <a:srgbClr val="C42F5A"/>
    <a:srgbClr val="D26BCC"/>
    <a:srgbClr val="FED57A"/>
    <a:srgbClr val="74C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0" autoAdjust="0"/>
    <p:restoredTop sz="94660"/>
  </p:normalViewPr>
  <p:slideViewPr>
    <p:cSldViewPr snapToGrid="0">
      <p:cViewPr>
        <p:scale>
          <a:sx n="150" d="100"/>
          <a:sy n="150" d="100"/>
        </p:scale>
        <p:origin x="184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58565-3EE1-414B-8C6D-7CC86052C20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1DF65-27FC-4F85-9EC4-4D565849A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36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E747-5FEA-4C34-B8AD-E8F8A9FFA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3DB91-A7EC-4DE6-BF5B-3C68AB951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8DC59-FCE4-4328-8232-E3D47CA07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65F52-43D6-4717-9384-970FE9A9B8D1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3005C-E595-4DEC-A0F5-4CDACAA1B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FE7F4-3AC7-495A-9613-20C9F96C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97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8343E7-E6DF-4384-AA66-C7A7E323A568}"/>
              </a:ext>
            </a:extLst>
          </p:cNvPr>
          <p:cNvSpPr/>
          <p:nvPr userDrawn="1"/>
        </p:nvSpPr>
        <p:spPr>
          <a:xfrm>
            <a:off x="89876" y="80108"/>
            <a:ext cx="12012246" cy="6697784"/>
          </a:xfrm>
          <a:prstGeom prst="roundRect">
            <a:avLst>
              <a:gd name="adj" fmla="val 230"/>
            </a:avLst>
          </a:prstGeom>
          <a:solidFill>
            <a:srgbClr val="181F40"/>
          </a:solidFill>
          <a:ln w="28575">
            <a:solidFill>
              <a:srgbClr val="FED57A"/>
            </a:solidFill>
          </a:ln>
          <a:effectLst>
            <a:glow rad="228600">
              <a:srgbClr val="FDA260">
                <a:alpha val="32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BB6ED-7382-4A30-81BB-491A6C2D9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096F3-E55F-46C7-8E23-870289B1C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88292-6A23-41ED-AF0A-A23674950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A379-B651-46F8-809B-37601F90F2EB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8495C-0ADC-4851-ADED-243F7A5C2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2F317-9F39-466F-996D-B72A1A0EF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9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26F5F-29F8-4CAF-B8B5-4C2319914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2300B-192C-40F6-845C-9B30C1856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7C23E-90CB-4F64-880D-403A64673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A9DF5-BFE9-4AA4-8FCB-E203433CCA3A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CB073-6CB2-4A77-9619-DE568CBF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E3D51-4EDA-4ED3-ACD6-D57A973B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78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C12439-A44C-4D7C-94F1-F351CFE9F8F6}"/>
              </a:ext>
            </a:extLst>
          </p:cNvPr>
          <p:cNvSpPr/>
          <p:nvPr userDrawn="1"/>
        </p:nvSpPr>
        <p:spPr>
          <a:xfrm>
            <a:off x="89876" y="80108"/>
            <a:ext cx="12012246" cy="6697784"/>
          </a:xfrm>
          <a:prstGeom prst="roundRect">
            <a:avLst>
              <a:gd name="adj" fmla="val 230"/>
            </a:avLst>
          </a:prstGeom>
          <a:solidFill>
            <a:srgbClr val="181F40"/>
          </a:solidFill>
          <a:ln w="28575">
            <a:solidFill>
              <a:srgbClr val="FED57A"/>
            </a:solidFill>
          </a:ln>
          <a:effectLst>
            <a:glow rad="228600">
              <a:srgbClr val="FDA260">
                <a:alpha val="32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6BF0FF-A9ED-4606-BB63-63122B82F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CA036-BA24-43CA-A17C-C08773C1AD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10129-8E79-4ABA-8B92-A7DF60BD5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5BEFC-F9F4-4682-A2CA-14424FC85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E4737-12C1-4613-8F99-B2E935F5F84D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39BFF-E7C9-4F31-9B42-47494C377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D0E02-C9FE-418F-8485-FEBB8A81F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85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712A05-BB5E-41ED-9192-EEDD0C6F4BB2}"/>
              </a:ext>
            </a:extLst>
          </p:cNvPr>
          <p:cNvSpPr/>
          <p:nvPr userDrawn="1"/>
        </p:nvSpPr>
        <p:spPr>
          <a:xfrm>
            <a:off x="89876" y="80108"/>
            <a:ext cx="12012246" cy="6697784"/>
          </a:xfrm>
          <a:prstGeom prst="roundRect">
            <a:avLst>
              <a:gd name="adj" fmla="val 230"/>
            </a:avLst>
          </a:prstGeom>
          <a:solidFill>
            <a:srgbClr val="181F40"/>
          </a:solidFill>
          <a:ln w="28575">
            <a:solidFill>
              <a:srgbClr val="FED57A"/>
            </a:solidFill>
          </a:ln>
          <a:effectLst>
            <a:glow rad="228600">
              <a:srgbClr val="FDA260">
                <a:alpha val="32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A83D3-A5E4-4078-B665-100C05E52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1CD39-0035-4F06-BEAB-B1135F643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C0AE4-1FAD-4B98-91FD-2A363A0A8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BF6CC-4298-4BBB-A511-AB27E1FC5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5B2E7-2E82-4D10-8DAD-28819638C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6DD6F1-7482-43CF-85A7-F7E525C30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44816-56EF-4B92-8353-0FBA8336834D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FCE7FD-9848-4BD4-867B-5DC9CCF02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E31D5B-5CC2-4583-B746-BD0398E5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5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B07560-F659-40FD-A075-14199B95CC07}"/>
              </a:ext>
            </a:extLst>
          </p:cNvPr>
          <p:cNvSpPr/>
          <p:nvPr userDrawn="1"/>
        </p:nvSpPr>
        <p:spPr>
          <a:xfrm>
            <a:off x="89876" y="80108"/>
            <a:ext cx="12012246" cy="6697784"/>
          </a:xfrm>
          <a:prstGeom prst="roundRect">
            <a:avLst>
              <a:gd name="adj" fmla="val 230"/>
            </a:avLst>
          </a:prstGeom>
          <a:solidFill>
            <a:srgbClr val="181F40"/>
          </a:solidFill>
          <a:ln w="28575">
            <a:solidFill>
              <a:srgbClr val="FED57A"/>
            </a:solidFill>
          </a:ln>
          <a:effectLst>
            <a:glow rad="228600">
              <a:srgbClr val="FDA260">
                <a:alpha val="32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E3B2A0-6B9E-4982-9045-59918EB43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6C8F3D-573D-48A2-9386-BCE0A0F0A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C7E11-7A23-477A-8016-93AAC63FB4F3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A549C1-F9F3-489A-917F-44D342EF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08969-1616-4344-AE8E-72B4C1BE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8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23AE91-917F-444B-918A-7BEFBB9E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EAFB-3746-40D2-89FF-F1673A53C374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DBADE9-B299-412B-8606-DC6363DD7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4DABF-DB61-44E9-BCE6-5781AA2AD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90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3D0F-39DF-4A2D-84A8-8E56A13B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33309-C0DB-4067-84C6-F7FAA0487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CFD4D-FCB7-4A95-A2E2-458814E9E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07C26-351B-4AF1-87C8-F8DF2E244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D3B58-D890-4D15-B765-B45AEA69D80A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D0F38-64DE-42F2-ACC8-522D82F9C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BF5FF-0EC4-4E7D-B0C9-B76AB1F8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39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F9F2B-27A1-4CC4-B60E-6474BB17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5063A9-A2E9-47ED-9FC4-66DE60B50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867B3-6C2B-472E-A87B-4C968AED2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49D36-5B2F-4DC4-9DFD-AFC6BD113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A01F-2D0D-4925-B6A6-E3C728C48DA3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7C563-54AF-4F8F-B89D-D7796A5B5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78658-3090-414D-9EF6-38A96A9D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65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112D-4FF5-4E93-92D5-0DD757FCB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18C342-76BA-4867-B274-F4ED2BDC0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240F1-7BE6-446B-8364-F037F5483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BFA72-69EE-41B3-97CC-188DC6163361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A73D0-1D63-4FD5-A404-B43F24E0D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620E7-A344-4C82-BE6E-24350094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25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CA6540-0034-4665-9FC1-B70089E55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33425-68DE-4D3F-A711-5382B6FE8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FDDD5-7EA7-4C4E-BA55-03A05446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2E0A-7999-4253-80EC-AF2ECA8F0351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5C88A-64A7-49EB-B02B-4897A8224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6A077-A296-4699-AD7F-A7E22D86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8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0A78B1-CD48-498F-99F5-8D0B79840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264B5-87AB-4A14-8F38-BCE14C93B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89AD1-7CB4-4E26-8F9C-5E03F637C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ED9EB-3773-4A91-8D30-DE71D89F85CF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F92B8-8AFD-4638-B230-B1BA7A4A5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38036-871A-4333-BE4E-9579F079E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8272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B0616-6AB1-4372-B834-ED0D7B076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4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-beth/CaTSCA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sv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microsoft.com/office/2007/relationships/hdphoto" Target="../media/hdphoto2.wdp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11.svg"/><Relationship Id="rId3" Type="http://schemas.microsoft.com/office/2007/relationships/hdphoto" Target="../media/hdphoto4.wdp"/><Relationship Id="rId7" Type="http://schemas.microsoft.com/office/2007/relationships/hdphoto" Target="../media/hdphoto6.wdp"/><Relationship Id="rId12" Type="http://schemas.openxmlformats.org/officeDocument/2006/relationships/image" Target="../media/image1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7.svg"/><Relationship Id="rId5" Type="http://schemas.microsoft.com/office/2007/relationships/hdphoto" Target="../media/hdphoto5.wdp"/><Relationship Id="rId15" Type="http://schemas.openxmlformats.org/officeDocument/2006/relationships/image" Target="../media/image49.svg"/><Relationship Id="rId10" Type="http://schemas.openxmlformats.org/officeDocument/2006/relationships/image" Target="../media/image46.png"/><Relationship Id="rId4" Type="http://schemas.openxmlformats.org/officeDocument/2006/relationships/image" Target="../media/image43.png"/><Relationship Id="rId9" Type="http://schemas.microsoft.com/office/2007/relationships/hdphoto" Target="../media/hdphoto7.wdp"/><Relationship Id="rId1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ianbeth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zenodo.org/records/20664518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2D830F-D7D3-40E4-801C-E7A80E1E9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5" r="2635"/>
          <a:stretch/>
        </p:blipFill>
        <p:spPr>
          <a:xfrm>
            <a:off x="7537728" y="1442856"/>
            <a:ext cx="4466703" cy="55636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7C0645-101E-479C-8EA6-7A51721E77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5" r="2635"/>
          <a:stretch/>
        </p:blipFill>
        <p:spPr>
          <a:xfrm>
            <a:off x="7537728" y="1442856"/>
            <a:ext cx="4466703" cy="556363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A7AEA69-6A24-4846-A417-55FA9F0400D5}"/>
              </a:ext>
            </a:extLst>
          </p:cNvPr>
          <p:cNvSpPr txBox="1">
            <a:spLocks/>
          </p:cNvSpPr>
          <p:nvPr/>
        </p:nvSpPr>
        <p:spPr>
          <a:xfrm>
            <a:off x="838200" y="784746"/>
            <a:ext cx="10515600" cy="132556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CaTSCAN:</a:t>
            </a:r>
            <a:r>
              <a:rPr lang="en-US" dirty="0">
                <a:solidFill>
                  <a:srgbClr val="FDA2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</a:t>
            </a:r>
            <a:r>
              <a:rPr lang="en-US" dirty="0">
                <a:solidFill>
                  <a:srgbClr val="FED5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lculating </a:t>
            </a:r>
            <a:r>
              <a:rPr lang="en-US" dirty="0">
                <a:solidFill>
                  <a:srgbClr val="FDA2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>
                <a:solidFill>
                  <a:srgbClr val="FED5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yped </a:t>
            </a:r>
            <a:r>
              <a:rPr lang="en-US" dirty="0">
                <a:solidFill>
                  <a:srgbClr val="FDA2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dirty="0">
                <a:solidFill>
                  <a:srgbClr val="FED5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ubgraph </a:t>
            </a:r>
            <a:r>
              <a:rPr lang="en-US" dirty="0">
                <a:solidFill>
                  <a:srgbClr val="FDA2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dirty="0">
                <a:solidFill>
                  <a:srgbClr val="FED5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ounts </a:t>
            </a:r>
            <a:r>
              <a:rPr lang="en-US" dirty="0">
                <a:solidFill>
                  <a:srgbClr val="FDA2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>
                <a:solidFill>
                  <a:srgbClr val="FED5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nalytically for </a:t>
            </a:r>
            <a:r>
              <a:rPr lang="en-US" dirty="0">
                <a:solidFill>
                  <a:srgbClr val="FDA2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solidFill>
                  <a:srgbClr val="FED5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etworks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9628FF-A18E-4563-9B2F-FADEC6BBD382}"/>
              </a:ext>
            </a:extLst>
          </p:cNvPr>
          <p:cNvSpPr txBox="1"/>
          <p:nvPr/>
        </p:nvSpPr>
        <p:spPr>
          <a:xfrm>
            <a:off x="857960" y="2390689"/>
            <a:ext cx="66036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DA2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Christian Beth</a:t>
            </a:r>
            <a:r>
              <a:rPr lang="en-US" sz="1600" dirty="0">
                <a:solidFill>
                  <a:srgbClr val="FED5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Mattis thor Straten, Felix Rodriguez Rasmussen,</a:t>
            </a:r>
          </a:p>
          <a:p>
            <a:r>
              <a:rPr lang="en-US" sz="1600" dirty="0">
                <a:solidFill>
                  <a:srgbClr val="FED5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Mohammad Matin Najafi, Reynold Cheng, Matthias Renz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B110D-79B7-4AF1-B4EF-C4DA22D72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832" y="4763095"/>
            <a:ext cx="7335033" cy="1524854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FDA2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Christian Beth,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Kiel University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European Conference on Machine Learning and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Principles and Practice of Knowledge Discovery in Databases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(ECML PKDD)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September 7-11, 2026, Naples, Italy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524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58009-A9E1-4E6B-A735-7EB30A8CE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are the Building Blocks of a Network?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D1303-2B49-4AE9-AF94-19B399063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2</a:t>
            </a:fld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12B7F20-5982-45C8-ABD6-3CA9867E255C}"/>
              </a:ext>
            </a:extLst>
          </p:cNvPr>
          <p:cNvCxnSpPr>
            <a:cxnSpLocks/>
          </p:cNvCxnSpPr>
          <p:nvPr/>
        </p:nvCxnSpPr>
        <p:spPr>
          <a:xfrm>
            <a:off x="2014337" y="2530258"/>
            <a:ext cx="328030" cy="1747380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0B78090-5692-4F62-89F5-705E142A2763}"/>
              </a:ext>
            </a:extLst>
          </p:cNvPr>
          <p:cNvCxnSpPr>
            <a:cxnSpLocks/>
          </p:cNvCxnSpPr>
          <p:nvPr/>
        </p:nvCxnSpPr>
        <p:spPr>
          <a:xfrm flipV="1">
            <a:off x="3569918" y="2599151"/>
            <a:ext cx="1857997" cy="737895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763F5F5-A0C7-4177-B55F-8891220C902F}"/>
              </a:ext>
            </a:extLst>
          </p:cNvPr>
          <p:cNvCxnSpPr>
            <a:cxnSpLocks/>
          </p:cNvCxnSpPr>
          <p:nvPr/>
        </p:nvCxnSpPr>
        <p:spPr>
          <a:xfrm flipH="1" flipV="1">
            <a:off x="2014337" y="2530258"/>
            <a:ext cx="1555581" cy="806787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84D8262-E9FF-40B0-B8F7-630602216BAB}"/>
              </a:ext>
            </a:extLst>
          </p:cNvPr>
          <p:cNvCxnSpPr>
            <a:cxnSpLocks/>
          </p:cNvCxnSpPr>
          <p:nvPr/>
        </p:nvCxnSpPr>
        <p:spPr>
          <a:xfrm flipH="1" flipV="1">
            <a:off x="3550337" y="3337045"/>
            <a:ext cx="1825505" cy="845780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31277AA-59B8-46F7-9394-9BB16C91F766}"/>
              </a:ext>
            </a:extLst>
          </p:cNvPr>
          <p:cNvCxnSpPr>
            <a:cxnSpLocks/>
          </p:cNvCxnSpPr>
          <p:nvPr/>
        </p:nvCxnSpPr>
        <p:spPr>
          <a:xfrm flipV="1">
            <a:off x="3569918" y="4173479"/>
            <a:ext cx="1805925" cy="1052680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DA8379F-BD96-4869-9F6A-AC17E359C8F8}"/>
              </a:ext>
            </a:extLst>
          </p:cNvPr>
          <p:cNvCxnSpPr>
            <a:cxnSpLocks/>
          </p:cNvCxnSpPr>
          <p:nvPr/>
        </p:nvCxnSpPr>
        <p:spPr>
          <a:xfrm flipH="1" flipV="1">
            <a:off x="5388947" y="4173479"/>
            <a:ext cx="1090165" cy="1305419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68E5984-37EC-4510-99C7-E1CBE6D32855}"/>
              </a:ext>
            </a:extLst>
          </p:cNvPr>
          <p:cNvCxnSpPr>
            <a:cxnSpLocks/>
          </p:cNvCxnSpPr>
          <p:nvPr/>
        </p:nvCxnSpPr>
        <p:spPr>
          <a:xfrm flipV="1">
            <a:off x="5410304" y="2599151"/>
            <a:ext cx="17611" cy="1574327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3E5E461-6397-4C35-BA67-228FCDF0DE4F}"/>
              </a:ext>
            </a:extLst>
          </p:cNvPr>
          <p:cNvCxnSpPr>
            <a:cxnSpLocks/>
          </p:cNvCxnSpPr>
          <p:nvPr/>
        </p:nvCxnSpPr>
        <p:spPr>
          <a:xfrm flipV="1">
            <a:off x="5410303" y="3184311"/>
            <a:ext cx="2059119" cy="973813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78B5FE9-8016-4035-9684-E50FDBB86FD8}"/>
              </a:ext>
            </a:extLst>
          </p:cNvPr>
          <p:cNvCxnSpPr>
            <a:cxnSpLocks/>
            <a:stCxn id="79" idx="7"/>
          </p:cNvCxnSpPr>
          <p:nvPr/>
        </p:nvCxnSpPr>
        <p:spPr>
          <a:xfrm flipV="1">
            <a:off x="8054157" y="3190691"/>
            <a:ext cx="1490411" cy="1214141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E57E43C-7867-45DD-861F-DDF7515BC344}"/>
              </a:ext>
            </a:extLst>
          </p:cNvPr>
          <p:cNvCxnSpPr>
            <a:cxnSpLocks/>
          </p:cNvCxnSpPr>
          <p:nvPr/>
        </p:nvCxnSpPr>
        <p:spPr>
          <a:xfrm>
            <a:off x="7469422" y="3182294"/>
            <a:ext cx="2075146" cy="8705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1C8054F-E187-4D66-AF1A-7CB5EB4FD96A}"/>
              </a:ext>
            </a:extLst>
          </p:cNvPr>
          <p:cNvCxnSpPr>
            <a:cxnSpLocks/>
          </p:cNvCxnSpPr>
          <p:nvPr/>
        </p:nvCxnSpPr>
        <p:spPr>
          <a:xfrm>
            <a:off x="5407474" y="4192864"/>
            <a:ext cx="2493948" cy="364703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AA53790-172D-4A88-AFB6-EE3DF3B773E2}"/>
              </a:ext>
            </a:extLst>
          </p:cNvPr>
          <p:cNvCxnSpPr>
            <a:cxnSpLocks/>
          </p:cNvCxnSpPr>
          <p:nvPr/>
        </p:nvCxnSpPr>
        <p:spPr>
          <a:xfrm flipV="1">
            <a:off x="9544568" y="1821226"/>
            <a:ext cx="216000" cy="1361068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6A8C291-15C6-4E8D-BD45-BCA6C89A3572}"/>
              </a:ext>
            </a:extLst>
          </p:cNvPr>
          <p:cNvCxnSpPr>
            <a:cxnSpLocks/>
          </p:cNvCxnSpPr>
          <p:nvPr/>
        </p:nvCxnSpPr>
        <p:spPr>
          <a:xfrm>
            <a:off x="7874097" y="4557567"/>
            <a:ext cx="1449443" cy="1010261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394B158-C56F-4EBE-BFC5-53AF3C37F93C}"/>
              </a:ext>
            </a:extLst>
          </p:cNvPr>
          <p:cNvCxnSpPr>
            <a:cxnSpLocks/>
          </p:cNvCxnSpPr>
          <p:nvPr/>
        </p:nvCxnSpPr>
        <p:spPr>
          <a:xfrm>
            <a:off x="9544568" y="3186646"/>
            <a:ext cx="1490411" cy="11042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B0C5281-913F-40D2-914C-7E685B40C5EE}"/>
              </a:ext>
            </a:extLst>
          </p:cNvPr>
          <p:cNvCxnSpPr>
            <a:cxnSpLocks/>
          </p:cNvCxnSpPr>
          <p:nvPr/>
        </p:nvCxnSpPr>
        <p:spPr>
          <a:xfrm>
            <a:off x="9544568" y="3190999"/>
            <a:ext cx="1021136" cy="857860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036CA29-0983-4AB7-BD2F-641053423855}"/>
              </a:ext>
            </a:extLst>
          </p:cNvPr>
          <p:cNvCxnSpPr>
            <a:cxnSpLocks/>
          </p:cNvCxnSpPr>
          <p:nvPr/>
        </p:nvCxnSpPr>
        <p:spPr>
          <a:xfrm>
            <a:off x="3569918" y="5226158"/>
            <a:ext cx="878770" cy="683944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EFD5D55-AC49-411F-9AE4-820FDAEB9C90}"/>
              </a:ext>
            </a:extLst>
          </p:cNvPr>
          <p:cNvCxnSpPr>
            <a:cxnSpLocks/>
          </p:cNvCxnSpPr>
          <p:nvPr/>
        </p:nvCxnSpPr>
        <p:spPr>
          <a:xfrm flipV="1">
            <a:off x="2868460" y="5226158"/>
            <a:ext cx="701458" cy="574257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514A165-98FB-40A2-B634-155907F358CB}"/>
              </a:ext>
            </a:extLst>
          </p:cNvPr>
          <p:cNvCxnSpPr>
            <a:cxnSpLocks/>
          </p:cNvCxnSpPr>
          <p:nvPr/>
        </p:nvCxnSpPr>
        <p:spPr>
          <a:xfrm flipV="1">
            <a:off x="5868521" y="5478898"/>
            <a:ext cx="585743" cy="646329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8102F2D-A377-4AB9-AFD1-75EF4E162055}"/>
              </a:ext>
            </a:extLst>
          </p:cNvPr>
          <p:cNvCxnSpPr>
            <a:cxnSpLocks/>
          </p:cNvCxnSpPr>
          <p:nvPr/>
        </p:nvCxnSpPr>
        <p:spPr>
          <a:xfrm flipH="1" flipV="1">
            <a:off x="6454264" y="5442158"/>
            <a:ext cx="1015159" cy="884591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ECBC880-74A4-406C-AE21-B75D6BECD3D1}"/>
              </a:ext>
            </a:extLst>
          </p:cNvPr>
          <p:cNvCxnSpPr>
            <a:cxnSpLocks/>
          </p:cNvCxnSpPr>
          <p:nvPr/>
        </p:nvCxnSpPr>
        <p:spPr>
          <a:xfrm flipH="1">
            <a:off x="9323540" y="5389969"/>
            <a:ext cx="1185798" cy="177859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7C85237-8827-4CA6-B8B7-D87AF57B0CAE}"/>
              </a:ext>
            </a:extLst>
          </p:cNvPr>
          <p:cNvCxnSpPr>
            <a:cxnSpLocks/>
          </p:cNvCxnSpPr>
          <p:nvPr/>
        </p:nvCxnSpPr>
        <p:spPr>
          <a:xfrm flipH="1">
            <a:off x="5427915" y="2020229"/>
            <a:ext cx="648001" cy="578922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9D31A78-D1E0-4438-9FA7-C3AC0B91C578}"/>
              </a:ext>
            </a:extLst>
          </p:cNvPr>
          <p:cNvCxnSpPr>
            <a:cxnSpLocks/>
          </p:cNvCxnSpPr>
          <p:nvPr/>
        </p:nvCxnSpPr>
        <p:spPr>
          <a:xfrm>
            <a:off x="4666156" y="2129425"/>
            <a:ext cx="761759" cy="469726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31544E4-5F4B-4A0D-A6A3-32F89B2703EB}"/>
              </a:ext>
            </a:extLst>
          </p:cNvPr>
          <p:cNvCxnSpPr>
            <a:cxnSpLocks/>
          </p:cNvCxnSpPr>
          <p:nvPr/>
        </p:nvCxnSpPr>
        <p:spPr>
          <a:xfrm>
            <a:off x="1361936" y="2020229"/>
            <a:ext cx="652401" cy="510029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2CCEF96-EEBD-4502-9315-FF5A03EA58D7}"/>
              </a:ext>
            </a:extLst>
          </p:cNvPr>
          <p:cNvCxnSpPr>
            <a:cxnSpLocks/>
          </p:cNvCxnSpPr>
          <p:nvPr/>
        </p:nvCxnSpPr>
        <p:spPr>
          <a:xfrm flipV="1">
            <a:off x="783179" y="2530258"/>
            <a:ext cx="1231158" cy="654052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6A41EBF7-FA6C-48EB-BB4B-2A2516C41653}"/>
              </a:ext>
            </a:extLst>
          </p:cNvPr>
          <p:cNvSpPr>
            <a:spLocks noChangeAspect="1"/>
          </p:cNvSpPr>
          <p:nvPr/>
        </p:nvSpPr>
        <p:spPr>
          <a:xfrm>
            <a:off x="3368798" y="3134423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E0220FA-B15F-4870-83DF-35BE5112597E}"/>
              </a:ext>
            </a:extLst>
          </p:cNvPr>
          <p:cNvSpPr>
            <a:spLocks noChangeAspect="1"/>
          </p:cNvSpPr>
          <p:nvPr/>
        </p:nvSpPr>
        <p:spPr>
          <a:xfrm>
            <a:off x="3368798" y="5010158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8F77683-DA78-44EB-967D-668ED878B2FD}"/>
              </a:ext>
            </a:extLst>
          </p:cNvPr>
          <p:cNvSpPr>
            <a:spLocks noChangeAspect="1"/>
          </p:cNvSpPr>
          <p:nvPr/>
        </p:nvSpPr>
        <p:spPr>
          <a:xfrm>
            <a:off x="5159843" y="3957479"/>
            <a:ext cx="431999" cy="431999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084DCB8-9B0E-4A70-924B-0C9AF5FBBDAC}"/>
              </a:ext>
            </a:extLst>
          </p:cNvPr>
          <p:cNvSpPr>
            <a:spLocks noChangeAspect="1"/>
          </p:cNvSpPr>
          <p:nvPr/>
        </p:nvSpPr>
        <p:spPr>
          <a:xfrm>
            <a:off x="5211915" y="2406768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88B5D44-0C43-46E3-B9FC-CD275E7AF13A}"/>
              </a:ext>
            </a:extLst>
          </p:cNvPr>
          <p:cNvSpPr>
            <a:spLocks noChangeAspect="1"/>
          </p:cNvSpPr>
          <p:nvPr/>
        </p:nvSpPr>
        <p:spPr>
          <a:xfrm>
            <a:off x="9328568" y="2968310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D89D81E-1C57-4493-9403-B67C6BDEEB8B}"/>
              </a:ext>
            </a:extLst>
          </p:cNvPr>
          <p:cNvSpPr>
            <a:spLocks noChangeAspect="1"/>
          </p:cNvSpPr>
          <p:nvPr/>
        </p:nvSpPr>
        <p:spPr>
          <a:xfrm>
            <a:off x="7685422" y="4341567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66B0A5A-8D73-43A3-88A3-ACA9AE91E65D}"/>
              </a:ext>
            </a:extLst>
          </p:cNvPr>
          <p:cNvSpPr>
            <a:spLocks noChangeAspect="1"/>
          </p:cNvSpPr>
          <p:nvPr/>
        </p:nvSpPr>
        <p:spPr>
          <a:xfrm>
            <a:off x="7253422" y="2972342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111DC93-FEC9-44F1-A273-8FA2A0CE7CEF}"/>
              </a:ext>
            </a:extLst>
          </p:cNvPr>
          <p:cNvSpPr>
            <a:spLocks noChangeAspect="1"/>
          </p:cNvSpPr>
          <p:nvPr/>
        </p:nvSpPr>
        <p:spPr>
          <a:xfrm>
            <a:off x="2128190" y="4048859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C860B1C-76CC-4624-B922-C69EA7BF536A}"/>
              </a:ext>
            </a:extLst>
          </p:cNvPr>
          <p:cNvSpPr>
            <a:spLocks noChangeAspect="1"/>
          </p:cNvSpPr>
          <p:nvPr/>
        </p:nvSpPr>
        <p:spPr>
          <a:xfrm>
            <a:off x="1798337" y="2297303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AEED58A-24E5-4772-B31D-087B1306F2DC}"/>
              </a:ext>
            </a:extLst>
          </p:cNvPr>
          <p:cNvSpPr>
            <a:spLocks noChangeAspect="1"/>
          </p:cNvSpPr>
          <p:nvPr/>
        </p:nvSpPr>
        <p:spPr>
          <a:xfrm>
            <a:off x="6238264" y="5226158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6CCD8A7-7413-4419-ADDF-D1E0D12B975A}"/>
              </a:ext>
            </a:extLst>
          </p:cNvPr>
          <p:cNvSpPr>
            <a:spLocks noChangeAspect="1"/>
          </p:cNvSpPr>
          <p:nvPr/>
        </p:nvSpPr>
        <p:spPr>
          <a:xfrm>
            <a:off x="9091394" y="5351828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38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22264-58CB-4794-AF9C-549EED1EC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(Untyped) Graphlets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F8562A7-5EF1-4201-9E83-3A1E3CCEE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8888" y="4343306"/>
            <a:ext cx="9248775" cy="1543050"/>
          </a:xfr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858D30B-B92B-4E04-A274-B2C4BB75D9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87733" y="1868488"/>
            <a:ext cx="2022232" cy="20222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B900B61-F1A4-429B-BEEC-93C7F5653B5B}"/>
              </a:ext>
            </a:extLst>
          </p:cNvPr>
          <p:cNvSpPr txBox="1"/>
          <p:nvPr/>
        </p:nvSpPr>
        <p:spPr>
          <a:xfrm>
            <a:off x="529004" y="1887538"/>
            <a:ext cx="1133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nodes: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4F2FB4-DAFF-46EA-8A97-DD7A21ACF98C}"/>
              </a:ext>
            </a:extLst>
          </p:cNvPr>
          <p:cNvSpPr txBox="1"/>
          <p:nvPr/>
        </p:nvSpPr>
        <p:spPr>
          <a:xfrm>
            <a:off x="529004" y="3010696"/>
            <a:ext cx="1133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nodes: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E6429-BD75-4668-8720-22821324F509}"/>
              </a:ext>
            </a:extLst>
          </p:cNvPr>
          <p:cNvSpPr txBox="1"/>
          <p:nvPr/>
        </p:nvSpPr>
        <p:spPr>
          <a:xfrm>
            <a:off x="523629" y="4930165"/>
            <a:ext cx="1133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nodes: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3703735-230B-4A44-9593-3FC59D48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3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86A839-FDD2-4AC6-A4DE-B16B6B21F598}"/>
              </a:ext>
            </a:extLst>
          </p:cNvPr>
          <p:cNvSpPr txBox="1"/>
          <p:nvPr/>
        </p:nvSpPr>
        <p:spPr>
          <a:xfrm>
            <a:off x="5335464" y="2241255"/>
            <a:ext cx="59623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ED57A"/>
                </a:solidFill>
              </a:rPr>
              <a:t>How many of these </a:t>
            </a:r>
            <a:r>
              <a:rPr lang="en-US" sz="2800" b="1" dirty="0">
                <a:solidFill>
                  <a:srgbClr val="FDA260"/>
                </a:solidFill>
              </a:rPr>
              <a:t>building blocks</a:t>
            </a:r>
            <a:br>
              <a:rPr lang="en-US" sz="2800" dirty="0">
                <a:solidFill>
                  <a:srgbClr val="FED57A"/>
                </a:solidFill>
              </a:rPr>
            </a:br>
            <a:r>
              <a:rPr lang="en-US" sz="2800" dirty="0">
                <a:solidFill>
                  <a:srgbClr val="FED57A"/>
                </a:solidFill>
              </a:rPr>
              <a:t>are in the network?</a:t>
            </a:r>
          </a:p>
        </p:txBody>
      </p:sp>
    </p:spTree>
    <p:extLst>
      <p:ext uri="{BB962C8B-B14F-4D97-AF65-F5344CB8AC3E}">
        <p14:creationId xmlns:p14="http://schemas.microsoft.com/office/powerpoint/2010/main" val="3071253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D1303-2B49-4AE9-AF94-19B399063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4</a:t>
            </a:fld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12B7F20-5982-45C8-ABD6-3CA9867E255C}"/>
              </a:ext>
            </a:extLst>
          </p:cNvPr>
          <p:cNvCxnSpPr>
            <a:cxnSpLocks/>
          </p:cNvCxnSpPr>
          <p:nvPr/>
        </p:nvCxnSpPr>
        <p:spPr>
          <a:xfrm>
            <a:off x="2014337" y="2530258"/>
            <a:ext cx="328030" cy="1747380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0B78090-5692-4F62-89F5-705E142A2763}"/>
              </a:ext>
            </a:extLst>
          </p:cNvPr>
          <p:cNvCxnSpPr>
            <a:cxnSpLocks/>
          </p:cNvCxnSpPr>
          <p:nvPr/>
        </p:nvCxnSpPr>
        <p:spPr>
          <a:xfrm flipV="1">
            <a:off x="3569918" y="2599151"/>
            <a:ext cx="1857997" cy="737895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763F5F5-A0C7-4177-B55F-8891220C902F}"/>
              </a:ext>
            </a:extLst>
          </p:cNvPr>
          <p:cNvCxnSpPr>
            <a:cxnSpLocks/>
          </p:cNvCxnSpPr>
          <p:nvPr/>
        </p:nvCxnSpPr>
        <p:spPr>
          <a:xfrm flipH="1" flipV="1">
            <a:off x="2014337" y="2530258"/>
            <a:ext cx="1555581" cy="806787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84D8262-E9FF-40B0-B8F7-630602216BAB}"/>
              </a:ext>
            </a:extLst>
          </p:cNvPr>
          <p:cNvCxnSpPr>
            <a:cxnSpLocks/>
          </p:cNvCxnSpPr>
          <p:nvPr/>
        </p:nvCxnSpPr>
        <p:spPr>
          <a:xfrm flipH="1" flipV="1">
            <a:off x="3550337" y="3337045"/>
            <a:ext cx="1825505" cy="845780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31277AA-59B8-46F7-9394-9BB16C91F766}"/>
              </a:ext>
            </a:extLst>
          </p:cNvPr>
          <p:cNvCxnSpPr>
            <a:cxnSpLocks/>
          </p:cNvCxnSpPr>
          <p:nvPr/>
        </p:nvCxnSpPr>
        <p:spPr>
          <a:xfrm flipV="1">
            <a:off x="3569918" y="4173479"/>
            <a:ext cx="1805925" cy="1052680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DA8379F-BD96-4869-9F6A-AC17E359C8F8}"/>
              </a:ext>
            </a:extLst>
          </p:cNvPr>
          <p:cNvCxnSpPr>
            <a:cxnSpLocks/>
          </p:cNvCxnSpPr>
          <p:nvPr/>
        </p:nvCxnSpPr>
        <p:spPr>
          <a:xfrm flipH="1" flipV="1">
            <a:off x="5388947" y="4173479"/>
            <a:ext cx="1090165" cy="1305419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68E5984-37EC-4510-99C7-E1CBE6D32855}"/>
              </a:ext>
            </a:extLst>
          </p:cNvPr>
          <p:cNvCxnSpPr>
            <a:cxnSpLocks/>
          </p:cNvCxnSpPr>
          <p:nvPr/>
        </p:nvCxnSpPr>
        <p:spPr>
          <a:xfrm flipV="1">
            <a:off x="5410304" y="2599151"/>
            <a:ext cx="17611" cy="1574327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3E5E461-6397-4C35-BA67-228FCDF0DE4F}"/>
              </a:ext>
            </a:extLst>
          </p:cNvPr>
          <p:cNvCxnSpPr>
            <a:cxnSpLocks/>
          </p:cNvCxnSpPr>
          <p:nvPr/>
        </p:nvCxnSpPr>
        <p:spPr>
          <a:xfrm flipV="1">
            <a:off x="5410303" y="3184311"/>
            <a:ext cx="2059119" cy="973813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78B5FE9-8016-4035-9684-E50FDBB86FD8}"/>
              </a:ext>
            </a:extLst>
          </p:cNvPr>
          <p:cNvCxnSpPr>
            <a:cxnSpLocks/>
            <a:stCxn id="79" idx="7"/>
          </p:cNvCxnSpPr>
          <p:nvPr/>
        </p:nvCxnSpPr>
        <p:spPr>
          <a:xfrm flipV="1">
            <a:off x="8054157" y="3190691"/>
            <a:ext cx="1490411" cy="1214141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E57E43C-7867-45DD-861F-DDF7515BC344}"/>
              </a:ext>
            </a:extLst>
          </p:cNvPr>
          <p:cNvCxnSpPr>
            <a:cxnSpLocks/>
          </p:cNvCxnSpPr>
          <p:nvPr/>
        </p:nvCxnSpPr>
        <p:spPr>
          <a:xfrm>
            <a:off x="7469422" y="3182294"/>
            <a:ext cx="2075146" cy="8705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1C8054F-E187-4D66-AF1A-7CB5EB4FD96A}"/>
              </a:ext>
            </a:extLst>
          </p:cNvPr>
          <p:cNvCxnSpPr>
            <a:cxnSpLocks/>
          </p:cNvCxnSpPr>
          <p:nvPr/>
        </p:nvCxnSpPr>
        <p:spPr>
          <a:xfrm>
            <a:off x="5407474" y="4192864"/>
            <a:ext cx="2493948" cy="364703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AA53790-172D-4A88-AFB6-EE3DF3B773E2}"/>
              </a:ext>
            </a:extLst>
          </p:cNvPr>
          <p:cNvCxnSpPr>
            <a:cxnSpLocks/>
          </p:cNvCxnSpPr>
          <p:nvPr/>
        </p:nvCxnSpPr>
        <p:spPr>
          <a:xfrm flipV="1">
            <a:off x="9544568" y="1821226"/>
            <a:ext cx="216000" cy="1361068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6A8C291-15C6-4E8D-BD45-BCA6C89A3572}"/>
              </a:ext>
            </a:extLst>
          </p:cNvPr>
          <p:cNvCxnSpPr>
            <a:cxnSpLocks/>
          </p:cNvCxnSpPr>
          <p:nvPr/>
        </p:nvCxnSpPr>
        <p:spPr>
          <a:xfrm>
            <a:off x="7874097" y="4557567"/>
            <a:ext cx="1449443" cy="1010261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394B158-C56F-4EBE-BFC5-53AF3C37F93C}"/>
              </a:ext>
            </a:extLst>
          </p:cNvPr>
          <p:cNvCxnSpPr>
            <a:cxnSpLocks/>
          </p:cNvCxnSpPr>
          <p:nvPr/>
        </p:nvCxnSpPr>
        <p:spPr>
          <a:xfrm>
            <a:off x="9544568" y="3186646"/>
            <a:ext cx="1490411" cy="11042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B0C5281-913F-40D2-914C-7E685B40C5EE}"/>
              </a:ext>
            </a:extLst>
          </p:cNvPr>
          <p:cNvCxnSpPr>
            <a:cxnSpLocks/>
          </p:cNvCxnSpPr>
          <p:nvPr/>
        </p:nvCxnSpPr>
        <p:spPr>
          <a:xfrm>
            <a:off x="9544568" y="3190999"/>
            <a:ext cx="1021136" cy="857860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036CA29-0983-4AB7-BD2F-641053423855}"/>
              </a:ext>
            </a:extLst>
          </p:cNvPr>
          <p:cNvCxnSpPr>
            <a:cxnSpLocks/>
          </p:cNvCxnSpPr>
          <p:nvPr/>
        </p:nvCxnSpPr>
        <p:spPr>
          <a:xfrm>
            <a:off x="3569918" y="5226158"/>
            <a:ext cx="878770" cy="683944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EFD5D55-AC49-411F-9AE4-820FDAEB9C90}"/>
              </a:ext>
            </a:extLst>
          </p:cNvPr>
          <p:cNvCxnSpPr>
            <a:cxnSpLocks/>
          </p:cNvCxnSpPr>
          <p:nvPr/>
        </p:nvCxnSpPr>
        <p:spPr>
          <a:xfrm flipV="1">
            <a:off x="2868460" y="5226158"/>
            <a:ext cx="701458" cy="574257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514A165-98FB-40A2-B634-155907F358CB}"/>
              </a:ext>
            </a:extLst>
          </p:cNvPr>
          <p:cNvCxnSpPr>
            <a:cxnSpLocks/>
          </p:cNvCxnSpPr>
          <p:nvPr/>
        </p:nvCxnSpPr>
        <p:spPr>
          <a:xfrm flipV="1">
            <a:off x="5868521" y="5478898"/>
            <a:ext cx="585743" cy="646329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8102F2D-A377-4AB9-AFD1-75EF4E162055}"/>
              </a:ext>
            </a:extLst>
          </p:cNvPr>
          <p:cNvCxnSpPr>
            <a:cxnSpLocks/>
          </p:cNvCxnSpPr>
          <p:nvPr/>
        </p:nvCxnSpPr>
        <p:spPr>
          <a:xfrm flipH="1" flipV="1">
            <a:off x="6454264" y="5442158"/>
            <a:ext cx="1015159" cy="884591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ECBC880-74A4-406C-AE21-B75D6BECD3D1}"/>
              </a:ext>
            </a:extLst>
          </p:cNvPr>
          <p:cNvCxnSpPr>
            <a:cxnSpLocks/>
          </p:cNvCxnSpPr>
          <p:nvPr/>
        </p:nvCxnSpPr>
        <p:spPr>
          <a:xfrm flipH="1">
            <a:off x="9323540" y="5389969"/>
            <a:ext cx="1185798" cy="177859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7C85237-8827-4CA6-B8B7-D87AF57B0CAE}"/>
              </a:ext>
            </a:extLst>
          </p:cNvPr>
          <p:cNvCxnSpPr>
            <a:cxnSpLocks/>
          </p:cNvCxnSpPr>
          <p:nvPr/>
        </p:nvCxnSpPr>
        <p:spPr>
          <a:xfrm flipH="1">
            <a:off x="5427915" y="2020229"/>
            <a:ext cx="648001" cy="578922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9D31A78-D1E0-4438-9FA7-C3AC0B91C578}"/>
              </a:ext>
            </a:extLst>
          </p:cNvPr>
          <p:cNvCxnSpPr>
            <a:cxnSpLocks/>
          </p:cNvCxnSpPr>
          <p:nvPr/>
        </p:nvCxnSpPr>
        <p:spPr>
          <a:xfrm>
            <a:off x="4666156" y="2129425"/>
            <a:ext cx="761759" cy="469726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31544E4-5F4B-4A0D-A6A3-32F89B2703EB}"/>
              </a:ext>
            </a:extLst>
          </p:cNvPr>
          <p:cNvCxnSpPr>
            <a:cxnSpLocks/>
          </p:cNvCxnSpPr>
          <p:nvPr/>
        </p:nvCxnSpPr>
        <p:spPr>
          <a:xfrm>
            <a:off x="1361936" y="2020229"/>
            <a:ext cx="652401" cy="510029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2CCEF96-EEBD-4502-9315-FF5A03EA58D7}"/>
              </a:ext>
            </a:extLst>
          </p:cNvPr>
          <p:cNvCxnSpPr>
            <a:cxnSpLocks/>
          </p:cNvCxnSpPr>
          <p:nvPr/>
        </p:nvCxnSpPr>
        <p:spPr>
          <a:xfrm flipV="1">
            <a:off x="783179" y="2530258"/>
            <a:ext cx="1231158" cy="654052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6A41EBF7-FA6C-48EB-BB4B-2A2516C41653}"/>
              </a:ext>
            </a:extLst>
          </p:cNvPr>
          <p:cNvSpPr>
            <a:spLocks noChangeAspect="1"/>
          </p:cNvSpPr>
          <p:nvPr/>
        </p:nvSpPr>
        <p:spPr>
          <a:xfrm>
            <a:off x="3368798" y="3134423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E0220FA-B15F-4870-83DF-35BE5112597E}"/>
              </a:ext>
            </a:extLst>
          </p:cNvPr>
          <p:cNvSpPr>
            <a:spLocks noChangeAspect="1"/>
          </p:cNvSpPr>
          <p:nvPr/>
        </p:nvSpPr>
        <p:spPr>
          <a:xfrm>
            <a:off x="3368798" y="5010158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8F77683-DA78-44EB-967D-668ED878B2FD}"/>
              </a:ext>
            </a:extLst>
          </p:cNvPr>
          <p:cNvSpPr>
            <a:spLocks noChangeAspect="1"/>
          </p:cNvSpPr>
          <p:nvPr/>
        </p:nvSpPr>
        <p:spPr>
          <a:xfrm>
            <a:off x="5159843" y="3957479"/>
            <a:ext cx="431999" cy="431999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084DCB8-9B0E-4A70-924B-0C9AF5FBBDAC}"/>
              </a:ext>
            </a:extLst>
          </p:cNvPr>
          <p:cNvSpPr>
            <a:spLocks noChangeAspect="1"/>
          </p:cNvSpPr>
          <p:nvPr/>
        </p:nvSpPr>
        <p:spPr>
          <a:xfrm>
            <a:off x="5211915" y="2406768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88B5D44-0C43-46E3-B9FC-CD275E7AF13A}"/>
              </a:ext>
            </a:extLst>
          </p:cNvPr>
          <p:cNvSpPr>
            <a:spLocks noChangeAspect="1"/>
          </p:cNvSpPr>
          <p:nvPr/>
        </p:nvSpPr>
        <p:spPr>
          <a:xfrm>
            <a:off x="9328568" y="2968310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D89D81E-1C57-4493-9403-B67C6BDEEB8B}"/>
              </a:ext>
            </a:extLst>
          </p:cNvPr>
          <p:cNvSpPr>
            <a:spLocks noChangeAspect="1"/>
          </p:cNvSpPr>
          <p:nvPr/>
        </p:nvSpPr>
        <p:spPr>
          <a:xfrm>
            <a:off x="7685422" y="4341567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66B0A5A-8D73-43A3-88A3-ACA9AE91E65D}"/>
              </a:ext>
            </a:extLst>
          </p:cNvPr>
          <p:cNvSpPr>
            <a:spLocks noChangeAspect="1"/>
          </p:cNvSpPr>
          <p:nvPr/>
        </p:nvSpPr>
        <p:spPr>
          <a:xfrm>
            <a:off x="7253422" y="2972342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111DC93-FEC9-44F1-A273-8FA2A0CE7CEF}"/>
              </a:ext>
            </a:extLst>
          </p:cNvPr>
          <p:cNvSpPr>
            <a:spLocks noChangeAspect="1"/>
          </p:cNvSpPr>
          <p:nvPr/>
        </p:nvSpPr>
        <p:spPr>
          <a:xfrm>
            <a:off x="2128190" y="4048859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C860B1C-76CC-4624-B922-C69EA7BF536A}"/>
              </a:ext>
            </a:extLst>
          </p:cNvPr>
          <p:cNvSpPr>
            <a:spLocks noChangeAspect="1"/>
          </p:cNvSpPr>
          <p:nvPr/>
        </p:nvSpPr>
        <p:spPr>
          <a:xfrm>
            <a:off x="1798337" y="2297303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AEED58A-24E5-4772-B31D-087B1306F2DC}"/>
              </a:ext>
            </a:extLst>
          </p:cNvPr>
          <p:cNvSpPr>
            <a:spLocks noChangeAspect="1"/>
          </p:cNvSpPr>
          <p:nvPr/>
        </p:nvSpPr>
        <p:spPr>
          <a:xfrm>
            <a:off x="6238264" y="5226158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6CCD8A7-7413-4419-ADDF-D1E0D12B975A}"/>
              </a:ext>
            </a:extLst>
          </p:cNvPr>
          <p:cNvSpPr>
            <a:spLocks noChangeAspect="1"/>
          </p:cNvSpPr>
          <p:nvPr/>
        </p:nvSpPr>
        <p:spPr>
          <a:xfrm>
            <a:off x="9091394" y="5351828"/>
            <a:ext cx="432000" cy="432000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7F004856-34F6-480A-B512-BAA06113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Heterogeneous Information Networks </a:t>
            </a:r>
            <a:r>
              <a:rPr lang="en-US" sz="2800" b="1" dirty="0"/>
              <a:t>(HINs)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34292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animClr clrSpc="rgb" dir="cw">
                                      <p:cBhvr>
                                        <p:cTn id="10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set>
                                      <p:cBhvr>
                                        <p:cTn id="11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animClr clrSpc="rgb" dir="cw">
                                      <p:cBhvr>
                                        <p:cTn id="15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set>
                                      <p:cBhvr>
                                        <p:cTn id="16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animClr clrSpc="rgb" dir="cw">
                                      <p:cBhvr>
                                        <p:cTn id="20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set>
                                      <p:cBhvr>
                                        <p:cTn id="21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4C6FA"/>
                                      </p:to>
                                    </p:animClr>
                                    <p:animClr clrSpc="rgb" dir="cw">
                                      <p:cBhvr>
                                        <p:cTn id="25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4C6FA"/>
                                      </p:to>
                                    </p:animClr>
                                    <p:set>
                                      <p:cBhvr>
                                        <p:cTn id="26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4C6FA"/>
                                      </p:to>
                                    </p:animClr>
                                    <p:animClr clrSpc="rgb" dir="cw">
                                      <p:cBhvr>
                                        <p:cTn id="30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4C6FA"/>
                                      </p:to>
                                    </p:animClr>
                                    <p:set>
                                      <p:cBhvr>
                                        <p:cTn id="31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DA260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A260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77" grpId="0" animBg="1"/>
      <p:bldP spid="79" grpId="0" animBg="1"/>
      <p:bldP spid="82" grpId="0" animBg="1"/>
      <p:bldP spid="83" grpId="0" animBg="1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886E-E4FE-46CE-989F-520A4C952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DA260"/>
                </a:solidFill>
              </a:rPr>
              <a:t>Typed</a:t>
            </a:r>
            <a:r>
              <a:rPr lang="en-US" b="1" dirty="0"/>
              <a:t> Graphlets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5490AE-531A-4775-AAFF-2C8256DBB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546" y="4555268"/>
            <a:ext cx="10290908" cy="1172382"/>
          </a:xfrm>
        </p:spPr>
      </p:pic>
      <p:pic>
        <p:nvPicPr>
          <p:cNvPr id="7" name="Content Placeholder 10">
            <a:extLst>
              <a:ext uri="{FF2B5EF4-FFF2-40B4-BE49-F238E27FC236}">
                <a16:creationId xmlns:a16="http://schemas.microsoft.com/office/drawing/2014/main" id="{677C6301-10BA-44F3-ADAC-00B5E0D51C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7845" y="1961975"/>
            <a:ext cx="7398848" cy="123441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4328E1E-9BB0-4343-A9F4-56E7B1D3D4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79426" y="1807656"/>
            <a:ext cx="1543050" cy="1543050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BC0ED1E4-3580-4219-92B8-D0CFA2108D72}"/>
              </a:ext>
            </a:extLst>
          </p:cNvPr>
          <p:cNvSpPr/>
          <p:nvPr/>
        </p:nvSpPr>
        <p:spPr>
          <a:xfrm>
            <a:off x="5599723" y="3590742"/>
            <a:ext cx="992554" cy="671677"/>
          </a:xfrm>
          <a:prstGeom prst="downArrow">
            <a:avLst/>
          </a:prstGeom>
          <a:solidFill>
            <a:srgbClr val="FED57A">
              <a:alpha val="76000"/>
            </a:srgbClr>
          </a:solidFill>
          <a:ln>
            <a:solidFill>
              <a:srgbClr val="FDA2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ED57A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0EDC1FC-D058-4E5C-8984-2823D6C7D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E5D03C-2A9D-4150-9837-B4A064653C4E}"/>
              </a:ext>
            </a:extLst>
          </p:cNvPr>
          <p:cNvSpPr txBox="1"/>
          <p:nvPr/>
        </p:nvSpPr>
        <p:spPr>
          <a:xfrm>
            <a:off x="5429250" y="5265985"/>
            <a:ext cx="1333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59888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CE96E-6D5F-4565-A722-C0CBC5FB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Contributions of CaTSCAN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1B147-5049-4297-AEDF-B451EF651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solution for </a:t>
            </a:r>
            <a:r>
              <a:rPr lang="en-US" b="1" dirty="0">
                <a:solidFill>
                  <a:srgbClr val="FDA260"/>
                </a:solidFill>
              </a:rPr>
              <a:t>typed 5-node</a:t>
            </a:r>
            <a:r>
              <a:rPr lang="en-US" dirty="0"/>
              <a:t> graphlet counting in HINs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Out-speeds state-of-the-art for </a:t>
            </a:r>
            <a:r>
              <a:rPr lang="en-US" b="1" dirty="0">
                <a:solidFill>
                  <a:srgbClr val="FDA260"/>
                </a:solidFill>
              </a:rPr>
              <a:t>typed 4-node</a:t>
            </a:r>
            <a:r>
              <a:rPr lang="en-US" dirty="0"/>
              <a:t> graphlet counting approaches by </a:t>
            </a:r>
            <a:r>
              <a:rPr lang="en-US" b="1" dirty="0">
                <a:solidFill>
                  <a:srgbClr val="FDA260"/>
                </a:solidFill>
              </a:rPr>
              <a:t>1 - 4 orders of magnitude</a:t>
            </a:r>
          </a:p>
          <a:p>
            <a:endParaRPr lang="en-US" b="1" dirty="0">
              <a:solidFill>
                <a:srgbClr val="FDA260"/>
              </a:solidFill>
            </a:endParaRPr>
          </a:p>
          <a:p>
            <a:r>
              <a:rPr lang="en-US" dirty="0">
                <a:solidFill>
                  <a:srgbClr val="FED57A"/>
                </a:solidFill>
              </a:rPr>
              <a:t>Counts typed </a:t>
            </a:r>
            <a:r>
              <a:rPr lang="en-US" b="1" dirty="0">
                <a:solidFill>
                  <a:srgbClr val="FDA260"/>
                </a:solidFill>
              </a:rPr>
              <a:t>5-node</a:t>
            </a:r>
            <a:r>
              <a:rPr lang="en-US" dirty="0">
                <a:solidFill>
                  <a:srgbClr val="FED57A"/>
                </a:solidFill>
              </a:rPr>
              <a:t> graphlets faster than state-of-the-art counts typed </a:t>
            </a:r>
            <a:r>
              <a:rPr lang="en-US" b="1" dirty="0">
                <a:solidFill>
                  <a:srgbClr val="FDA260"/>
                </a:solidFill>
              </a:rPr>
              <a:t>4-node</a:t>
            </a:r>
            <a:r>
              <a:rPr lang="en-US" dirty="0">
                <a:solidFill>
                  <a:srgbClr val="FED57A"/>
                </a:solidFill>
              </a:rPr>
              <a:t> graphlets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C9426-D76E-4804-AF1F-45AAAB3C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8D411-B2A0-4F56-BBB7-94DF30DAF753}"/>
              </a:ext>
            </a:extLst>
          </p:cNvPr>
          <p:cNvSpPr txBox="1"/>
          <p:nvPr/>
        </p:nvSpPr>
        <p:spPr>
          <a:xfrm>
            <a:off x="7095994" y="6081991"/>
            <a:ext cx="4677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Code: </a:t>
            </a:r>
            <a:r>
              <a:rPr lang="en-US" dirty="0">
                <a:solidFill>
                  <a:srgbClr val="FED57A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https://github.com/c-beth/CaTSCAN</a:t>
            </a:r>
            <a:endParaRPr lang="en-US" dirty="0">
              <a:solidFill>
                <a:srgbClr val="FED5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807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5464BF1-70AF-4C93-9C71-BBC8A677F1D0}"/>
              </a:ext>
            </a:extLst>
          </p:cNvPr>
          <p:cNvCxnSpPr>
            <a:cxnSpLocks/>
          </p:cNvCxnSpPr>
          <p:nvPr/>
        </p:nvCxnSpPr>
        <p:spPr>
          <a:xfrm flipH="1" flipV="1">
            <a:off x="10826701" y="3753453"/>
            <a:ext cx="816241" cy="326159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AEBA94F-60F2-4845-B73C-AA3E24E80FF2}"/>
              </a:ext>
            </a:extLst>
          </p:cNvPr>
          <p:cNvCxnSpPr>
            <a:cxnSpLocks/>
          </p:cNvCxnSpPr>
          <p:nvPr/>
        </p:nvCxnSpPr>
        <p:spPr>
          <a:xfrm flipH="1" flipV="1">
            <a:off x="9977417" y="4844790"/>
            <a:ext cx="676906" cy="419952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40479A7-C92A-4D96-A6B8-4F06CDE87B33}"/>
              </a:ext>
            </a:extLst>
          </p:cNvPr>
          <p:cNvCxnSpPr>
            <a:cxnSpLocks/>
          </p:cNvCxnSpPr>
          <p:nvPr/>
        </p:nvCxnSpPr>
        <p:spPr>
          <a:xfrm flipH="1">
            <a:off x="10811611" y="3106383"/>
            <a:ext cx="167722" cy="668665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2B4CBDA-91FA-45E6-A6C7-53229B3EB7CE}"/>
              </a:ext>
            </a:extLst>
          </p:cNvPr>
          <p:cNvCxnSpPr>
            <a:cxnSpLocks/>
          </p:cNvCxnSpPr>
          <p:nvPr/>
        </p:nvCxnSpPr>
        <p:spPr>
          <a:xfrm flipH="1">
            <a:off x="10811611" y="3665919"/>
            <a:ext cx="742807" cy="87533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376E8F3-C51F-4FA1-8EB3-A34F11A261B0}"/>
              </a:ext>
            </a:extLst>
          </p:cNvPr>
          <p:cNvCxnSpPr>
            <a:cxnSpLocks/>
          </p:cNvCxnSpPr>
          <p:nvPr/>
        </p:nvCxnSpPr>
        <p:spPr>
          <a:xfrm flipH="1">
            <a:off x="9282724" y="2357632"/>
            <a:ext cx="346540" cy="504730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DAB8EC8-ADB0-4F15-B2FE-434A3BE4DCFD}"/>
              </a:ext>
            </a:extLst>
          </p:cNvPr>
          <p:cNvCxnSpPr>
            <a:cxnSpLocks/>
          </p:cNvCxnSpPr>
          <p:nvPr/>
        </p:nvCxnSpPr>
        <p:spPr>
          <a:xfrm>
            <a:off x="7540104" y="2794950"/>
            <a:ext cx="421802" cy="595758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F6D29AD-E76D-455B-9271-CC4DA25B9780}"/>
              </a:ext>
            </a:extLst>
          </p:cNvPr>
          <p:cNvCxnSpPr>
            <a:cxnSpLocks/>
          </p:cNvCxnSpPr>
          <p:nvPr/>
        </p:nvCxnSpPr>
        <p:spPr>
          <a:xfrm>
            <a:off x="6970751" y="4310444"/>
            <a:ext cx="733813" cy="108923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327786D-AAD1-4B86-B82A-164E0031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Counting (Untyped) Graphlets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B3486-E9E7-4F57-8F87-28A879C7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504A48-DBCC-4F4D-B8DA-EB86118C2EBF}"/>
                  </a:ext>
                </a:extLst>
              </p:cNvPr>
              <p:cNvSpPr txBox="1"/>
              <p:nvPr/>
            </p:nvSpPr>
            <p:spPr>
              <a:xfrm>
                <a:off x="1116990" y="1862138"/>
                <a:ext cx="5459046" cy="3900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DA260"/>
                    </a:solidFill>
                  </a:rPr>
                  <a:t>def</a:t>
                </a:r>
                <a:r>
                  <a:rPr lang="en-US" sz="2400" dirty="0"/>
                  <a:t> count_3_node_graphlets():</a:t>
                </a:r>
              </a:p>
              <a:p>
                <a:pPr lvl="1"/>
                <a:r>
                  <a:rPr lang="en-US" sz="2400" dirty="0"/>
                  <a:t>wedges = 0</a:t>
                </a:r>
              </a:p>
              <a:p>
                <a:pPr lvl="1"/>
                <a:r>
                  <a:rPr lang="en-US" sz="2400" dirty="0"/>
                  <a:t>triangles = 0</a:t>
                </a:r>
              </a:p>
              <a:p>
                <a:pPr lvl="1"/>
                <a:r>
                  <a:rPr lang="en-US" sz="2400" dirty="0">
                    <a:solidFill>
                      <a:srgbClr val="FDA260"/>
                    </a:solidFill>
                  </a:rPr>
                  <a:t>for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FDA260"/>
                    </a:solidFill>
                  </a:rPr>
                  <a:t>do:</a:t>
                </a:r>
              </a:p>
              <a:p>
                <a:pPr lvl="1"/>
                <a:r>
                  <a:rPr lang="en-US" sz="2400" dirty="0"/>
                  <a:t>    </a:t>
                </a:r>
                <a:r>
                  <a:rPr lang="en-US" sz="2400" dirty="0">
                    <a:solidFill>
                      <a:srgbClr val="FDA260"/>
                    </a:solidFill>
                  </a:rPr>
                  <a:t>for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FDA260"/>
                    </a:solidFill>
                  </a:rPr>
                  <a:t>do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400" dirty="0"/>
                  <a:t>        </a:t>
                </a:r>
                <a:r>
                  <a:rPr lang="en-US" sz="2400" dirty="0">
                    <a:solidFill>
                      <a:srgbClr val="FDA260"/>
                    </a:solidFill>
                  </a:rPr>
                  <a:t>for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FDA260"/>
                    </a:solidFill>
                  </a:rPr>
                  <a:t>do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400" dirty="0"/>
                  <a:t>            wedges += 1</a:t>
                </a:r>
              </a:p>
              <a:p>
                <a:pPr lvl="1"/>
                <a:r>
                  <a:rPr lang="en-US" sz="2400" dirty="0"/>
                  <a:t>            </a:t>
                </a:r>
                <a:r>
                  <a:rPr lang="en-US" sz="2400" dirty="0">
                    <a:solidFill>
                      <a:srgbClr val="FDA260"/>
                    </a:solidFill>
                  </a:rPr>
                  <a:t>if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FDA260"/>
                    </a:solidFill>
                  </a:rPr>
                  <a:t>then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400" dirty="0"/>
                  <a:t>                triangle += 1</a:t>
                </a:r>
              </a:p>
              <a:p>
                <a:pPr lvl="1"/>
                <a:r>
                  <a:rPr lang="en-US" sz="2400" dirty="0">
                    <a:solidFill>
                      <a:srgbClr val="FDA260"/>
                    </a:solidFill>
                  </a:rPr>
                  <a:t>return</a:t>
                </a:r>
                <a:r>
                  <a:rPr lang="en-US" sz="2400" dirty="0"/>
                  <a:t> wedges, triangles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504A48-DBCC-4F4D-B8DA-EB86118C2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990" y="1862138"/>
                <a:ext cx="5459046" cy="3900427"/>
              </a:xfrm>
              <a:prstGeom prst="rect">
                <a:avLst/>
              </a:prstGeom>
              <a:blipFill>
                <a:blip r:embed="rId2"/>
                <a:stretch>
                  <a:fillRect l="-1674" t="-1094" b="-2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phic 5">
            <a:extLst>
              <a:ext uri="{FF2B5EF4-FFF2-40B4-BE49-F238E27FC236}">
                <a16:creationId xmlns:a16="http://schemas.microsoft.com/office/drawing/2014/main" id="{04AB5763-FA56-45D7-94EE-E6571D66C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9598" y="712613"/>
            <a:ext cx="653376" cy="6533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30E495D-F4F1-46DD-8FD9-7B75701160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80037" y="724889"/>
            <a:ext cx="653376" cy="6533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43B27B-7526-40AA-B4D4-26950FDC7E68}"/>
              </a:ext>
            </a:extLst>
          </p:cNvPr>
          <p:cNvSpPr txBox="1"/>
          <p:nvPr/>
        </p:nvSpPr>
        <p:spPr>
          <a:xfrm>
            <a:off x="6868399" y="2980384"/>
            <a:ext cx="43650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42F5A"/>
                </a:solidFill>
              </a:rPr>
              <a:t>Enumeration touches</a:t>
            </a:r>
            <a:r>
              <a:rPr lang="en-US" sz="2800" b="1" i="1" dirty="0">
                <a:solidFill>
                  <a:srgbClr val="C42F5A"/>
                </a:solidFill>
              </a:rPr>
              <a:t> every. single. </a:t>
            </a:r>
            <a:r>
              <a:rPr lang="en-US" sz="2800" b="1" dirty="0">
                <a:solidFill>
                  <a:srgbClr val="C42F5A"/>
                </a:solidFill>
              </a:rPr>
              <a:t>instance…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0B375E-C7C7-4064-A0AA-95F017D0CD4D}"/>
              </a:ext>
            </a:extLst>
          </p:cNvPr>
          <p:cNvCxnSpPr>
            <a:cxnSpLocks/>
          </p:cNvCxnSpPr>
          <p:nvPr/>
        </p:nvCxnSpPr>
        <p:spPr>
          <a:xfrm flipV="1">
            <a:off x="7951392" y="2845674"/>
            <a:ext cx="1312918" cy="521419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4B0FE08-09F5-4AE8-B769-51055BB35175}"/>
              </a:ext>
            </a:extLst>
          </p:cNvPr>
          <p:cNvCxnSpPr>
            <a:cxnSpLocks/>
          </p:cNvCxnSpPr>
          <p:nvPr/>
        </p:nvCxnSpPr>
        <p:spPr>
          <a:xfrm flipH="1" flipV="1">
            <a:off x="7937555" y="3367092"/>
            <a:ext cx="1289958" cy="597654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414453-CFD3-4A88-AD66-F7896A743E9B}"/>
              </a:ext>
            </a:extLst>
          </p:cNvPr>
          <p:cNvCxnSpPr>
            <a:cxnSpLocks/>
          </p:cNvCxnSpPr>
          <p:nvPr/>
        </p:nvCxnSpPr>
        <p:spPr>
          <a:xfrm flipV="1">
            <a:off x="7704564" y="3958143"/>
            <a:ext cx="1522950" cy="494474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20A326-CEF0-4BD9-A0F8-9337083F8005}"/>
              </a:ext>
            </a:extLst>
          </p:cNvPr>
          <p:cNvCxnSpPr>
            <a:cxnSpLocks/>
          </p:cNvCxnSpPr>
          <p:nvPr/>
        </p:nvCxnSpPr>
        <p:spPr>
          <a:xfrm flipH="1" flipV="1">
            <a:off x="9236774" y="3958143"/>
            <a:ext cx="770344" cy="922449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B2E5087-B4E9-4828-ACFA-B694AD75E0FD}"/>
              </a:ext>
            </a:extLst>
          </p:cNvPr>
          <p:cNvCxnSpPr>
            <a:cxnSpLocks/>
          </p:cNvCxnSpPr>
          <p:nvPr/>
        </p:nvCxnSpPr>
        <p:spPr>
          <a:xfrm flipV="1">
            <a:off x="9251865" y="2845674"/>
            <a:ext cx="12444" cy="1112468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860F2C-FA2C-45BE-AEAF-2E0C0F3B3C0E}"/>
              </a:ext>
            </a:extLst>
          </p:cNvPr>
          <p:cNvCxnSpPr>
            <a:cxnSpLocks/>
          </p:cNvCxnSpPr>
          <p:nvPr/>
        </p:nvCxnSpPr>
        <p:spPr>
          <a:xfrm flipV="1">
            <a:off x="9251864" y="3753452"/>
            <a:ext cx="1559746" cy="193840"/>
          </a:xfrm>
          <a:prstGeom prst="straightConnector1">
            <a:avLst/>
          </a:prstGeom>
          <a:ln w="41275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BBF6A10-1614-4634-82D6-E8523CCD9D04}"/>
              </a:ext>
            </a:extLst>
          </p:cNvPr>
          <p:cNvCxnSpPr>
            <a:cxnSpLocks/>
          </p:cNvCxnSpPr>
          <p:nvPr/>
        </p:nvCxnSpPr>
        <p:spPr>
          <a:xfrm>
            <a:off x="7692736" y="4419367"/>
            <a:ext cx="486760" cy="684989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834A5F5-6BB2-4494-99AA-08F7D746A427}"/>
              </a:ext>
            </a:extLst>
          </p:cNvPr>
          <p:cNvCxnSpPr>
            <a:cxnSpLocks/>
          </p:cNvCxnSpPr>
          <p:nvPr/>
        </p:nvCxnSpPr>
        <p:spPr>
          <a:xfrm flipV="1">
            <a:off x="9745760" y="4880592"/>
            <a:ext cx="243799" cy="542458"/>
          </a:xfrm>
          <a:prstGeom prst="straightConnector1">
            <a:avLst/>
          </a:prstGeom>
          <a:ln w="41275">
            <a:solidFill>
              <a:srgbClr val="FDA2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F30F957-85D1-4B13-9EC5-EF9A0302B24C}"/>
              </a:ext>
            </a:extLst>
          </p:cNvPr>
          <p:cNvSpPr>
            <a:spLocks noChangeAspect="1"/>
          </p:cNvSpPr>
          <p:nvPr/>
        </p:nvSpPr>
        <p:spPr>
          <a:xfrm>
            <a:off x="7809274" y="3223914"/>
            <a:ext cx="305265" cy="305265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4C995AE-A4E6-4254-A281-24FB343BAFE7}"/>
              </a:ext>
            </a:extLst>
          </p:cNvPr>
          <p:cNvSpPr>
            <a:spLocks noChangeAspect="1"/>
          </p:cNvSpPr>
          <p:nvPr/>
        </p:nvSpPr>
        <p:spPr>
          <a:xfrm>
            <a:off x="7540104" y="4271990"/>
            <a:ext cx="305265" cy="305265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B7034A9-5C8D-489F-8BD2-9668BD0300CE}"/>
              </a:ext>
            </a:extLst>
          </p:cNvPr>
          <p:cNvSpPr>
            <a:spLocks noChangeAspect="1"/>
          </p:cNvSpPr>
          <p:nvPr/>
        </p:nvSpPr>
        <p:spPr>
          <a:xfrm>
            <a:off x="9074882" y="3805510"/>
            <a:ext cx="305264" cy="305264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B6D4A9-FB4B-41C5-9964-EA6B2093132F}"/>
              </a:ext>
            </a:extLst>
          </p:cNvPr>
          <p:cNvSpPr>
            <a:spLocks noChangeAspect="1"/>
          </p:cNvSpPr>
          <p:nvPr/>
        </p:nvSpPr>
        <p:spPr>
          <a:xfrm>
            <a:off x="9111677" y="2709730"/>
            <a:ext cx="305265" cy="305265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F84DB5B-FCAC-411E-8409-4843C3D3332E}"/>
              </a:ext>
            </a:extLst>
          </p:cNvPr>
          <p:cNvSpPr>
            <a:spLocks noChangeAspect="1"/>
          </p:cNvSpPr>
          <p:nvPr/>
        </p:nvSpPr>
        <p:spPr>
          <a:xfrm>
            <a:off x="10658978" y="3600820"/>
            <a:ext cx="305265" cy="305265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7FE98EF-64B9-4FBC-A40A-7663B5F54B50}"/>
              </a:ext>
            </a:extLst>
          </p:cNvPr>
          <p:cNvSpPr>
            <a:spLocks noChangeAspect="1"/>
          </p:cNvSpPr>
          <p:nvPr/>
        </p:nvSpPr>
        <p:spPr>
          <a:xfrm>
            <a:off x="9836927" y="4701998"/>
            <a:ext cx="305265" cy="305265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81BC918-E637-46AC-BD27-32AE1C636872}"/>
                  </a:ext>
                </a:extLst>
              </p:cNvPr>
              <p:cNvSpPr txBox="1"/>
              <p:nvPr/>
            </p:nvSpPr>
            <p:spPr>
              <a:xfrm>
                <a:off x="8851785" y="3994746"/>
                <a:ext cx="4354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81BC918-E637-46AC-BD27-32AE1C636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785" y="3994746"/>
                <a:ext cx="435410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1889082-F195-4CB0-8272-1902157DFA18}"/>
                  </a:ext>
                </a:extLst>
              </p:cNvPr>
              <p:cNvSpPr txBox="1"/>
              <p:nvPr/>
            </p:nvSpPr>
            <p:spPr>
              <a:xfrm>
                <a:off x="9384845" y="2623988"/>
                <a:ext cx="4354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1889082-F195-4CB0-8272-1902157DF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45" y="2623988"/>
                <a:ext cx="435410" cy="461665"/>
              </a:xfrm>
              <a:prstGeom prst="rect">
                <a:avLst/>
              </a:prstGeom>
              <a:blipFill>
                <a:blip r:embed="rId8"/>
                <a:stretch>
                  <a:fillRect r="-8451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492B16C-0A62-48D2-AF1F-4EA453A89C35}"/>
                  </a:ext>
                </a:extLst>
              </p:cNvPr>
              <p:cNvSpPr txBox="1"/>
              <p:nvPr/>
            </p:nvSpPr>
            <p:spPr>
              <a:xfrm>
                <a:off x="7487054" y="3351921"/>
                <a:ext cx="435410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492B16C-0A62-48D2-AF1F-4EA453A89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054" y="3351921"/>
                <a:ext cx="435410" cy="491417"/>
              </a:xfrm>
              <a:prstGeom prst="rect">
                <a:avLst/>
              </a:prstGeom>
              <a:blipFill>
                <a:blip r:embed="rId9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E67358D-B3D4-42DD-89C4-955CDF0712D4}"/>
                  </a:ext>
                </a:extLst>
              </p:cNvPr>
              <p:cNvSpPr txBox="1"/>
              <p:nvPr/>
            </p:nvSpPr>
            <p:spPr>
              <a:xfrm>
                <a:off x="10603944" y="3824059"/>
                <a:ext cx="4354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E67358D-B3D4-42DD-89C4-955CDF071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3944" y="3824059"/>
                <a:ext cx="435410" cy="461665"/>
              </a:xfrm>
              <a:prstGeom prst="rect">
                <a:avLst/>
              </a:prstGeom>
              <a:blipFill>
                <a:blip r:embed="rId10"/>
                <a:stretch>
                  <a:fillRect r="-6944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950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set>
                                      <p:cBhvr>
                                        <p:cTn id="2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animClr clrSpc="rgb" dir="cw">
                                      <p:cBhvr>
                                        <p:cTn id="3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set>
                                      <p:cBhvr>
                                        <p:cTn id="3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set>
                                      <p:cBhvr>
                                        <p:cTn id="3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animClr clrSpc="rgb" dir="cw">
                                      <p:cBhvr>
                                        <p:cTn id="49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set>
                                      <p:cBhvr>
                                        <p:cTn id="50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set>
                                      <p:cBhvr>
                                        <p:cTn id="5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set>
                                      <p:cBhvr>
                                        <p:cTn id="68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animClr clrSpc="rgb" dir="cw">
                                      <p:cBhvr>
                                        <p:cTn id="79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set>
                                      <p:cBhvr>
                                        <p:cTn id="80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DA260"/>
                                      </p:to>
                                    </p:animClr>
                                    <p:set>
                                      <p:cBhvr>
                                        <p:cTn id="84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ED57A"/>
                                      </p:to>
                                    </p:animClr>
                                    <p:animClr clrSpc="rgb" dir="cw">
                                      <p:cBhvr>
                                        <p:cTn id="87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ED57A"/>
                                      </p:to>
                                    </p:animClr>
                                    <p:set>
                                      <p:cBhvr>
                                        <p:cTn id="88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42F5A"/>
                                      </p:to>
                                    </p:animClr>
                                    <p:set>
                                      <p:cBhvr>
                                        <p:cTn id="9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DA260"/>
                                      </p:to>
                                    </p:animClr>
                                    <p:set>
                                      <p:cBhvr>
                                        <p:cTn id="95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6" grpId="0" animBg="1"/>
      <p:bldP spid="26" grpId="1" animBg="1"/>
      <p:bldP spid="27" grpId="0" animBg="1"/>
      <p:bldP spid="28" grpId="0" animBg="1"/>
      <p:bldP spid="29" grpId="0" animBg="1"/>
      <p:bldP spid="29" grpId="1" animBg="1"/>
      <p:bldP spid="29" grpId="2" animBg="1"/>
      <p:bldP spid="31" grpId="0" animBg="1"/>
      <p:bldP spid="31" grpId="1" animBg="1"/>
      <p:bldP spid="32" grpId="0" animBg="1"/>
      <p:bldP spid="53" grpId="0"/>
      <p:bldP spid="53" grpId="1"/>
      <p:bldP spid="55" grpId="0"/>
      <p:bldP spid="55" grpId="1"/>
      <p:bldP spid="55" grpId="2"/>
      <p:bldP spid="56" grpId="0"/>
      <p:bldP spid="56" grpId="1"/>
      <p:bldP spid="70" grpId="0"/>
      <p:bldP spid="7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7C98D-DB35-40F1-A22E-D84BA84D9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Enumerating is a </a:t>
            </a:r>
            <a:r>
              <a:rPr lang="en-US" b="1" dirty="0">
                <a:solidFill>
                  <a:srgbClr val="FDA260"/>
                </a:solidFill>
              </a:rPr>
              <a:t>Bad</a:t>
            </a:r>
            <a:r>
              <a:rPr lang="en-US" b="1" dirty="0"/>
              <a:t> Idea…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E3016-BDB5-4F05-AFBB-4DF18B6DC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DA260"/>
                </a:solidFill>
              </a:rPr>
              <a:t>Graphs of interest are large:</a:t>
            </a:r>
            <a:br>
              <a:rPr lang="en-US" b="1" dirty="0">
                <a:solidFill>
                  <a:srgbClr val="FDA260"/>
                </a:solidFill>
              </a:rPr>
            </a:br>
            <a:r>
              <a:rPr lang="en-US" dirty="0"/>
              <a:t>millions of nodes and edges</a:t>
            </a:r>
          </a:p>
          <a:p>
            <a:endParaRPr lang="en-US" dirty="0"/>
          </a:p>
          <a:p>
            <a:r>
              <a:rPr lang="en-US" b="1" dirty="0">
                <a:solidFill>
                  <a:srgbClr val="FDA260"/>
                </a:solidFill>
              </a:rPr>
              <a:t>Combinatorial explosion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trillions (10</a:t>
            </a:r>
            <a:r>
              <a:rPr lang="en-US" baseline="30000" dirty="0"/>
              <a:t>12</a:t>
            </a:r>
            <a:r>
              <a:rPr lang="en-US" dirty="0"/>
              <a:t>), or even quintillions (10</a:t>
            </a:r>
            <a:r>
              <a:rPr lang="en-US" baseline="30000" dirty="0"/>
              <a:t>18</a:t>
            </a:r>
            <a:r>
              <a:rPr lang="en-US" dirty="0"/>
              <a:t>) of graphlet instances </a:t>
            </a:r>
          </a:p>
          <a:p>
            <a:endParaRPr lang="en-US" dirty="0"/>
          </a:p>
          <a:p>
            <a:r>
              <a:rPr lang="en-US" dirty="0"/>
              <a:t>Matching a subgraph is related to the subgraph isomorphism problem, which is </a:t>
            </a:r>
            <a:r>
              <a:rPr lang="en-US" b="1" dirty="0">
                <a:solidFill>
                  <a:srgbClr val="FDA260"/>
                </a:solidFill>
              </a:rPr>
              <a:t>NP-complete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:(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4BCBA-AAC7-4F24-BDB2-9330B2CB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9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5A1322-0AB7-4524-8989-749D8AF22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Ideas that Count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A53937-4698-431F-BDAF-AF2D72846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DA260"/>
                </a:solidFill>
              </a:rPr>
              <a:t>Don’t count – </a:t>
            </a:r>
            <a:r>
              <a:rPr lang="en-US" b="1" i="1" dirty="0">
                <a:solidFill>
                  <a:srgbClr val="FDA260"/>
                </a:solidFill>
              </a:rPr>
              <a:t>calculate</a:t>
            </a:r>
            <a:r>
              <a:rPr lang="en-US" b="1" dirty="0">
                <a:solidFill>
                  <a:srgbClr val="FDA260"/>
                </a:solidFill>
              </a:rPr>
              <a:t>!</a:t>
            </a:r>
          </a:p>
          <a:p>
            <a:endParaRPr lang="en-US" b="1" dirty="0">
              <a:solidFill>
                <a:srgbClr val="FDA260"/>
              </a:solidFill>
            </a:endParaRPr>
          </a:p>
          <a:p>
            <a:r>
              <a:rPr lang="en-US" b="1" dirty="0">
                <a:solidFill>
                  <a:srgbClr val="FDA260"/>
                </a:solidFill>
              </a:rPr>
              <a:t>Combine counts</a:t>
            </a:r>
            <a:r>
              <a:rPr lang="en-US" dirty="0"/>
              <a:t> of smaller graphlets</a:t>
            </a:r>
            <a:br>
              <a:rPr lang="en-US" dirty="0"/>
            </a:br>
            <a:r>
              <a:rPr lang="en-US" dirty="0"/>
              <a:t>for larger graphlets</a:t>
            </a:r>
          </a:p>
          <a:p>
            <a:endParaRPr lang="en-US" dirty="0"/>
          </a:p>
          <a:p>
            <a:r>
              <a:rPr lang="en-US" b="1" dirty="0">
                <a:solidFill>
                  <a:srgbClr val="FDA260"/>
                </a:solidFill>
              </a:rPr>
              <a:t>Degree-ordered edge orientation</a:t>
            </a:r>
            <a:br>
              <a:rPr lang="en-US" dirty="0"/>
            </a:br>
            <a:r>
              <a:rPr lang="en-US" dirty="0"/>
              <a:t>for faster enumeration in </a:t>
            </a:r>
            <a:r>
              <a:rPr lang="en-US" b="1" dirty="0">
                <a:solidFill>
                  <a:srgbClr val="FDA260"/>
                </a:solidFill>
              </a:rPr>
              <a:t>DAG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E4E598-5337-4A3B-9E8B-8DE1BB53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9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179CA6-6EFE-432B-BE2B-5BC01F8C3128}"/>
              </a:ext>
            </a:extLst>
          </p:cNvPr>
          <p:cNvGrpSpPr/>
          <p:nvPr/>
        </p:nvGrpSpPr>
        <p:grpSpPr>
          <a:xfrm>
            <a:off x="8834951" y="1067234"/>
            <a:ext cx="1437196" cy="1374146"/>
            <a:chOff x="1019636" y="4081533"/>
            <a:chExt cx="1437196" cy="1374146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222B951-0E13-4607-8E9B-D74DC2E6671E}"/>
                </a:ext>
              </a:extLst>
            </p:cNvPr>
            <p:cNvCxnSpPr>
              <a:cxnSpLocks/>
              <a:stCxn id="10" idx="4"/>
              <a:endCxn id="11" idx="0"/>
            </p:cNvCxnSpPr>
            <p:nvPr/>
          </p:nvCxnSpPr>
          <p:spPr>
            <a:xfrm>
              <a:off x="1217636" y="4477533"/>
              <a:ext cx="0" cy="582146"/>
            </a:xfrm>
            <a:prstGeom prst="straightConnector1">
              <a:avLst/>
            </a:prstGeom>
            <a:ln w="41275">
              <a:solidFill>
                <a:srgbClr val="FDA26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D2A3057-657B-4D42-875A-A5AC275D876F}"/>
                </a:ext>
              </a:extLst>
            </p:cNvPr>
            <p:cNvCxnSpPr>
              <a:cxnSpLocks/>
              <a:stCxn id="11" idx="6"/>
              <a:endCxn id="12" idx="2"/>
            </p:cNvCxnSpPr>
            <p:nvPr/>
          </p:nvCxnSpPr>
          <p:spPr>
            <a:xfrm flipV="1">
              <a:off x="1415636" y="5254722"/>
              <a:ext cx="645196" cy="2957"/>
            </a:xfrm>
            <a:prstGeom prst="straightConnector1">
              <a:avLst/>
            </a:prstGeom>
            <a:ln w="41275">
              <a:solidFill>
                <a:srgbClr val="FDA26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FBB3F81-4A45-47F7-8BC5-295B42974A02}"/>
                </a:ext>
              </a:extLst>
            </p:cNvPr>
            <p:cNvCxnSpPr>
              <a:cxnSpLocks/>
              <a:stCxn id="12" idx="1"/>
              <a:endCxn id="10" idx="5"/>
            </p:cNvCxnSpPr>
            <p:nvPr/>
          </p:nvCxnSpPr>
          <p:spPr>
            <a:xfrm flipH="1" flipV="1">
              <a:off x="1357643" y="4419540"/>
              <a:ext cx="761182" cy="695175"/>
            </a:xfrm>
            <a:prstGeom prst="straightConnector1">
              <a:avLst/>
            </a:prstGeom>
            <a:ln w="41275">
              <a:solidFill>
                <a:srgbClr val="FDA26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8544482-F392-4698-9E50-D1F0CB59E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9636" y="4081533"/>
              <a:ext cx="396000" cy="396000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740F097-C72C-4BBA-8086-C3DF11A4BE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9636" y="5059679"/>
              <a:ext cx="396000" cy="396000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20D1C66-2D05-46F7-A9BA-2E880B2146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60832" y="5056722"/>
              <a:ext cx="396000" cy="396000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58D2071-7BB0-4ECC-A8B0-16461C92F73D}"/>
              </a:ext>
            </a:extLst>
          </p:cNvPr>
          <p:cNvGrpSpPr/>
          <p:nvPr/>
        </p:nvGrpSpPr>
        <p:grpSpPr>
          <a:xfrm>
            <a:off x="8834951" y="3824295"/>
            <a:ext cx="1497197" cy="1374145"/>
            <a:chOff x="6608316" y="4081533"/>
            <a:chExt cx="1497197" cy="1374145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EB538B8-BC13-4F33-894E-C8CE86F82EA5}"/>
                </a:ext>
              </a:extLst>
            </p:cNvPr>
            <p:cNvCxnSpPr>
              <a:cxnSpLocks/>
              <a:stCxn id="18" idx="6"/>
              <a:endCxn id="19" idx="2"/>
            </p:cNvCxnSpPr>
            <p:nvPr/>
          </p:nvCxnSpPr>
          <p:spPr>
            <a:xfrm flipV="1">
              <a:off x="7004316" y="5254722"/>
              <a:ext cx="705197" cy="2956"/>
            </a:xfrm>
            <a:prstGeom prst="straightConnector1">
              <a:avLst/>
            </a:prstGeom>
            <a:ln w="53975">
              <a:solidFill>
                <a:srgbClr val="C42F5A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1EAB460-09A8-45DF-B730-722881101B6E}"/>
                </a:ext>
              </a:extLst>
            </p:cNvPr>
            <p:cNvCxnSpPr>
              <a:cxnSpLocks/>
              <a:stCxn id="19" idx="1"/>
              <a:endCxn id="17" idx="5"/>
            </p:cNvCxnSpPr>
            <p:nvPr/>
          </p:nvCxnSpPr>
          <p:spPr>
            <a:xfrm flipH="1" flipV="1">
              <a:off x="6946323" y="4419540"/>
              <a:ext cx="821183" cy="695175"/>
            </a:xfrm>
            <a:prstGeom prst="straightConnector1">
              <a:avLst/>
            </a:prstGeom>
            <a:ln w="41275">
              <a:solidFill>
                <a:srgbClr val="FDA260"/>
              </a:solidFill>
              <a:prstDash val="sys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966A095-3BFA-4499-BA85-7578C3251C93}"/>
                </a:ext>
              </a:extLst>
            </p:cNvPr>
            <p:cNvCxnSpPr>
              <a:stCxn id="18" idx="0"/>
              <a:endCxn id="17" idx="4"/>
            </p:cNvCxnSpPr>
            <p:nvPr/>
          </p:nvCxnSpPr>
          <p:spPr>
            <a:xfrm flipV="1">
              <a:off x="6806316" y="4477533"/>
              <a:ext cx="0" cy="582145"/>
            </a:xfrm>
            <a:prstGeom prst="straightConnector1">
              <a:avLst/>
            </a:prstGeom>
            <a:ln w="53975">
              <a:solidFill>
                <a:srgbClr val="C42F5A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176F7E4-09A0-4568-911E-650EF85312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8316" y="4081533"/>
              <a:ext cx="396000" cy="396000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38E4228-9C0D-4031-9E77-E51947AA14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8316" y="5059678"/>
              <a:ext cx="396000" cy="396000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98CB6C7-243B-4ADF-9E15-E615DA3F87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09513" y="5056722"/>
              <a:ext cx="396000" cy="396000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E2DE990-0463-4BBC-B712-5BD6692A9C75}"/>
                </a:ext>
              </a:extLst>
            </p:cNvPr>
            <p:cNvSpPr txBox="1"/>
            <p:nvPr/>
          </p:nvSpPr>
          <p:spPr>
            <a:xfrm>
              <a:off x="7385574" y="4282428"/>
              <a:ext cx="4477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DA260"/>
                  </a:solidFill>
                </a:rPr>
                <a:t>?</a:t>
              </a:r>
              <a:endParaRPr lang="en-US" b="1" dirty="0">
                <a:solidFill>
                  <a:srgbClr val="FDA260"/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0939E91-E3F4-451B-97F4-4A36F1B8DFB8}"/>
              </a:ext>
            </a:extLst>
          </p:cNvPr>
          <p:cNvSpPr txBox="1"/>
          <p:nvPr/>
        </p:nvSpPr>
        <p:spPr>
          <a:xfrm>
            <a:off x="8078164" y="2527782"/>
            <a:ext cx="301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42F5A"/>
                </a:solidFill>
              </a:rPr>
              <a:t>impossible in DAG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848315-FBAE-4C0A-A722-D234C23AEF23}"/>
              </a:ext>
            </a:extLst>
          </p:cNvPr>
          <p:cNvSpPr txBox="1"/>
          <p:nvPr/>
        </p:nvSpPr>
        <p:spPr>
          <a:xfrm>
            <a:off x="8262477" y="5246783"/>
            <a:ext cx="264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DA260"/>
                </a:solidFill>
              </a:rPr>
              <a:t>only check these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9C23424-10BD-48E5-8E1C-0754167D1C74}"/>
              </a:ext>
            </a:extLst>
          </p:cNvPr>
          <p:cNvGrpSpPr/>
          <p:nvPr/>
        </p:nvGrpSpPr>
        <p:grpSpPr>
          <a:xfrm>
            <a:off x="7796508" y="3823894"/>
            <a:ext cx="1427269" cy="1371189"/>
            <a:chOff x="8980158" y="2840590"/>
            <a:chExt cx="605130" cy="58135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C97832C-8F4B-49E4-8BB1-B02157C30391}"/>
                </a:ext>
              </a:extLst>
            </p:cNvPr>
            <p:cNvCxnSpPr>
              <a:cxnSpLocks/>
              <a:stCxn id="34" idx="3"/>
              <a:endCxn id="32" idx="7"/>
            </p:cNvCxnSpPr>
            <p:nvPr/>
          </p:nvCxnSpPr>
          <p:spPr>
            <a:xfrm flipH="1">
              <a:off x="9122475" y="2982907"/>
              <a:ext cx="320494" cy="296718"/>
            </a:xfrm>
            <a:prstGeom prst="straightConnector1">
              <a:avLst/>
            </a:prstGeom>
            <a:ln w="53975">
              <a:solidFill>
                <a:srgbClr val="C42F5A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96D9C6D-D507-4EE7-BBD4-3F3313D626D1}"/>
                </a:ext>
              </a:extLst>
            </p:cNvPr>
            <p:cNvCxnSpPr>
              <a:cxnSpLocks/>
            </p:cNvCxnSpPr>
            <p:nvPr/>
          </p:nvCxnSpPr>
          <p:spPr>
            <a:xfrm>
              <a:off x="9502407" y="3007325"/>
              <a:ext cx="0" cy="245112"/>
            </a:xfrm>
            <a:prstGeom prst="straightConnector1">
              <a:avLst/>
            </a:prstGeom>
            <a:ln w="4445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CD75077-602A-4FC3-BD83-12F52C2647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615" y="2922712"/>
              <a:ext cx="271659" cy="1245"/>
            </a:xfrm>
            <a:prstGeom prst="straightConnector1">
              <a:avLst/>
            </a:prstGeom>
            <a:ln w="4445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D230948-80A0-4A78-BCA7-0C0B935C90E1}"/>
                </a:ext>
              </a:extLst>
            </p:cNvPr>
            <p:cNvCxnSpPr>
              <a:cxnSpLocks/>
              <a:stCxn id="31" idx="4"/>
              <a:endCxn id="32" idx="0"/>
            </p:cNvCxnSpPr>
            <p:nvPr/>
          </p:nvCxnSpPr>
          <p:spPr>
            <a:xfrm>
              <a:off x="9063526" y="3010095"/>
              <a:ext cx="0" cy="245112"/>
            </a:xfrm>
            <a:prstGeom prst="straightConnector1">
              <a:avLst/>
            </a:prstGeom>
            <a:ln w="4445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42D8611-A53D-443D-8564-C3D244F83A47}"/>
                </a:ext>
              </a:extLst>
            </p:cNvPr>
            <p:cNvCxnSpPr>
              <a:cxnSpLocks/>
              <a:stCxn id="32" idx="6"/>
              <a:endCxn id="33" idx="2"/>
            </p:cNvCxnSpPr>
            <p:nvPr/>
          </p:nvCxnSpPr>
          <p:spPr>
            <a:xfrm flipV="1">
              <a:off x="9146893" y="3337330"/>
              <a:ext cx="271659" cy="1245"/>
            </a:xfrm>
            <a:prstGeom prst="straightConnector1">
              <a:avLst/>
            </a:prstGeom>
            <a:ln w="4445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F61FE1C-5CDA-404E-865D-391E80320F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80158" y="2843360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509E1B7-3844-4BB9-839E-3CEFDAED29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80158" y="3255208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C41976E-68CC-49DE-AB2B-710F7C180E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18553" y="3253962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4ECF9BC-3A24-4D5A-BBDD-964E834E12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18552" y="2840590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5F1BC9-E186-4880-A87D-DA7CBC63BF15}"/>
              </a:ext>
            </a:extLst>
          </p:cNvPr>
          <p:cNvGrpSpPr/>
          <p:nvPr/>
        </p:nvGrpSpPr>
        <p:grpSpPr>
          <a:xfrm>
            <a:off x="7801810" y="1096480"/>
            <a:ext cx="1427267" cy="1371189"/>
            <a:chOff x="8980158" y="2840590"/>
            <a:chExt cx="605129" cy="581353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27AE837-4BE6-469E-82FA-4820F26B9FC7}"/>
                </a:ext>
              </a:extLst>
            </p:cNvPr>
            <p:cNvCxnSpPr>
              <a:cxnSpLocks/>
              <a:stCxn id="46" idx="3"/>
              <a:endCxn id="44" idx="7"/>
            </p:cNvCxnSpPr>
            <p:nvPr/>
          </p:nvCxnSpPr>
          <p:spPr>
            <a:xfrm flipH="1">
              <a:off x="9122475" y="2982907"/>
              <a:ext cx="320494" cy="296718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CF35ABE-0924-453A-8375-0122B951D5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615" y="2922712"/>
              <a:ext cx="271659" cy="1245"/>
            </a:xfrm>
            <a:prstGeom prst="straightConnector1">
              <a:avLst/>
            </a:prstGeom>
            <a:ln w="4445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99D477D-6862-4976-B509-DBDFEE2FBE10}"/>
                </a:ext>
              </a:extLst>
            </p:cNvPr>
            <p:cNvCxnSpPr>
              <a:cxnSpLocks/>
              <a:stCxn id="43" idx="4"/>
              <a:endCxn id="44" idx="0"/>
            </p:cNvCxnSpPr>
            <p:nvPr/>
          </p:nvCxnSpPr>
          <p:spPr>
            <a:xfrm>
              <a:off x="9063526" y="3010095"/>
              <a:ext cx="0" cy="245112"/>
            </a:xfrm>
            <a:prstGeom prst="straightConnector1">
              <a:avLst/>
            </a:prstGeom>
            <a:ln w="4445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689E66A-1196-49A6-8C99-780DCF5A4C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80158" y="2843360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1C2321F1-826B-4475-A7E4-021D8C2865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80158" y="3255208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DBEE809-5779-4778-9CA9-4669457709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18552" y="2840590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5BF3736-CAFC-45B4-8713-06CF89786989}"/>
              </a:ext>
            </a:extLst>
          </p:cNvPr>
          <p:cNvGrpSpPr/>
          <p:nvPr/>
        </p:nvGrpSpPr>
        <p:grpSpPr>
          <a:xfrm>
            <a:off x="9878024" y="1058305"/>
            <a:ext cx="1427269" cy="1371189"/>
            <a:chOff x="8980158" y="2840590"/>
            <a:chExt cx="605130" cy="581353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1DF447B5-F2ED-4C65-A2B8-4E640221BB78}"/>
                </a:ext>
              </a:extLst>
            </p:cNvPr>
            <p:cNvCxnSpPr>
              <a:cxnSpLocks/>
              <a:stCxn id="56" idx="3"/>
              <a:endCxn id="54" idx="7"/>
            </p:cNvCxnSpPr>
            <p:nvPr/>
          </p:nvCxnSpPr>
          <p:spPr>
            <a:xfrm flipH="1">
              <a:off x="9122475" y="2982907"/>
              <a:ext cx="320494" cy="296718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A12B162-6C6C-4350-99A5-4E80CBD4EDD9}"/>
                </a:ext>
              </a:extLst>
            </p:cNvPr>
            <p:cNvCxnSpPr>
              <a:cxnSpLocks/>
            </p:cNvCxnSpPr>
            <p:nvPr/>
          </p:nvCxnSpPr>
          <p:spPr>
            <a:xfrm>
              <a:off x="9502407" y="3007325"/>
              <a:ext cx="0" cy="245112"/>
            </a:xfrm>
            <a:prstGeom prst="straightConnector1">
              <a:avLst/>
            </a:prstGeom>
            <a:ln w="4445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67109FD8-A69A-4277-A0A9-E514FCB73AC7}"/>
                </a:ext>
              </a:extLst>
            </p:cNvPr>
            <p:cNvCxnSpPr>
              <a:cxnSpLocks/>
              <a:stCxn id="54" idx="6"/>
              <a:endCxn id="55" idx="2"/>
            </p:cNvCxnSpPr>
            <p:nvPr/>
          </p:nvCxnSpPr>
          <p:spPr>
            <a:xfrm flipV="1">
              <a:off x="9146893" y="3337330"/>
              <a:ext cx="271659" cy="1245"/>
            </a:xfrm>
            <a:prstGeom prst="straightConnector1">
              <a:avLst/>
            </a:prstGeom>
            <a:ln w="4445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13D9120-C7D4-467C-8249-17DC32D31E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80158" y="3255208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A7FB305-D7B4-47AF-83FA-E96C21740F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18553" y="3253962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34A97ED-D2C3-4C13-A675-A9FCBDB786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18552" y="2840590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C83F84E-B4EB-430A-8CA4-E063C18E6514}"/>
              </a:ext>
            </a:extLst>
          </p:cNvPr>
          <p:cNvSpPr/>
          <p:nvPr/>
        </p:nvSpPr>
        <p:spPr>
          <a:xfrm>
            <a:off x="9044455" y="2814611"/>
            <a:ext cx="992554" cy="671677"/>
          </a:xfrm>
          <a:prstGeom prst="downArrow">
            <a:avLst/>
          </a:prstGeom>
          <a:solidFill>
            <a:srgbClr val="FED57A">
              <a:alpha val="76000"/>
            </a:srgbClr>
          </a:solidFill>
          <a:ln>
            <a:solidFill>
              <a:srgbClr val="FDA2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ED57A"/>
              </a:solidFill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95973E5-FF48-45E6-95A8-B737DF0C7221}"/>
              </a:ext>
            </a:extLst>
          </p:cNvPr>
          <p:cNvGrpSpPr>
            <a:grpSpLocks noChangeAspect="1"/>
          </p:cNvGrpSpPr>
          <p:nvPr/>
        </p:nvGrpSpPr>
        <p:grpSpPr>
          <a:xfrm>
            <a:off x="9620359" y="3559263"/>
            <a:ext cx="2010346" cy="1906979"/>
            <a:chOff x="10370331" y="2871664"/>
            <a:chExt cx="1040912" cy="987391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EFA1459-2584-42D0-BE99-46360D412FDD}"/>
                </a:ext>
              </a:extLst>
            </p:cNvPr>
            <p:cNvCxnSpPr>
              <a:cxnSpLocks/>
              <a:stCxn id="67" idx="7"/>
              <a:endCxn id="69" idx="3"/>
            </p:cNvCxnSpPr>
            <p:nvPr/>
          </p:nvCxnSpPr>
          <p:spPr>
            <a:xfrm flipV="1">
              <a:off x="10951043" y="3421265"/>
              <a:ext cx="317883" cy="295473"/>
            </a:xfrm>
            <a:prstGeom prst="straightConnector1">
              <a:avLst/>
            </a:prstGeom>
            <a:ln w="41275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38C39EA-7955-4549-B661-623B40419F54}"/>
                </a:ext>
              </a:extLst>
            </p:cNvPr>
            <p:cNvCxnSpPr>
              <a:cxnSpLocks/>
              <a:stCxn id="68" idx="6"/>
              <a:endCxn id="69" idx="2"/>
            </p:cNvCxnSpPr>
            <p:nvPr/>
          </p:nvCxnSpPr>
          <p:spPr>
            <a:xfrm>
              <a:off x="10975460" y="3362316"/>
              <a:ext cx="269048" cy="0"/>
            </a:xfrm>
            <a:prstGeom prst="straightConnector1">
              <a:avLst/>
            </a:prstGeom>
            <a:ln w="41275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BF18DB6C-85E3-462A-A4FC-D37C17FB3848}"/>
                </a:ext>
              </a:extLst>
            </p:cNvPr>
            <p:cNvCxnSpPr>
              <a:cxnSpLocks/>
              <a:stCxn id="68" idx="0"/>
              <a:endCxn id="66" idx="4"/>
            </p:cNvCxnSpPr>
            <p:nvPr/>
          </p:nvCxnSpPr>
          <p:spPr>
            <a:xfrm flipV="1">
              <a:off x="10892093" y="3038399"/>
              <a:ext cx="0" cy="240549"/>
            </a:xfrm>
            <a:prstGeom prst="straightConnector1">
              <a:avLst/>
            </a:prstGeom>
            <a:ln w="41275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FE9169EA-50FD-4445-AC08-B48D0EE9BB0A}"/>
                </a:ext>
              </a:extLst>
            </p:cNvPr>
            <p:cNvCxnSpPr>
              <a:cxnSpLocks/>
            </p:cNvCxnSpPr>
            <p:nvPr/>
          </p:nvCxnSpPr>
          <p:spPr>
            <a:xfrm>
              <a:off x="10892580" y="3445683"/>
              <a:ext cx="0" cy="245112"/>
            </a:xfrm>
            <a:prstGeom prst="straightConnector1">
              <a:avLst/>
            </a:prstGeom>
            <a:ln w="41275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E88F64E-ECDA-4655-95D6-8C30802F6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34788" y="3361070"/>
              <a:ext cx="271659" cy="1245"/>
            </a:xfrm>
            <a:prstGeom prst="straightConnector1">
              <a:avLst/>
            </a:prstGeom>
            <a:ln w="41275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6A595372-0051-4DD7-A569-587522E19A73}"/>
                </a:ext>
              </a:extLst>
            </p:cNvPr>
            <p:cNvCxnSpPr>
              <a:cxnSpLocks/>
              <a:stCxn id="65" idx="7"/>
              <a:endCxn id="66" idx="3"/>
            </p:cNvCxnSpPr>
            <p:nvPr/>
          </p:nvCxnSpPr>
          <p:spPr>
            <a:xfrm flipV="1">
              <a:off x="10512648" y="3013981"/>
              <a:ext cx="320495" cy="292155"/>
            </a:xfrm>
            <a:prstGeom prst="straightConnector1">
              <a:avLst/>
            </a:prstGeom>
            <a:ln w="41275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8A0CC563-BE5F-4322-8AB3-E082AC3C0C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70331" y="3281718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B50C2137-A674-4E02-93CB-35355B9888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8725" y="2871664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0102122-D9F8-4D96-8AA0-C7DAAC7088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8726" y="3692320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5AB05E0-61C3-4440-A2EC-D22EB5AB88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8725" y="3278948"/>
              <a:ext cx="166735" cy="166735"/>
            </a:xfrm>
            <a:prstGeom prst="ellipse">
              <a:avLst/>
            </a:prstGeom>
            <a:solidFill>
              <a:srgbClr val="C42F5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09E870DB-3275-474B-BF57-CA03042B73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44508" y="3278948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549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57" grpId="0" animBg="1"/>
      <p:bldP spid="57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2D02-96AF-4D7E-8104-AE3077DF8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DA260"/>
                </a:solidFill>
              </a:rPr>
              <a:t>Calculate</a:t>
            </a:r>
            <a:r>
              <a:rPr lang="en-US" b="1" dirty="0"/>
              <a:t> with Combinatorics </a:t>
            </a:r>
            <a:r>
              <a:rPr lang="en-US" sz="3200" b="1" dirty="0"/>
              <a:t>(Untyped)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4D674F-64E2-408A-BA7E-F29808F402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# wedges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deg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# diamonds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/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de-DE">
                                    <a:latin typeface="Cambria Math" panose="02040503050406030204" pitchFamily="18" charset="0"/>
                                  </a:rPr>
                                  <m:t>triangles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# tailed triangles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triangles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⋅(</m:t>
                        </m:r>
                        <m:func>
                          <m:func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func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</m:nary>
                  </m:oMath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# hourglasses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triangles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de-DE" b="0" i="0" smtClean="0">
                        <a:latin typeface="Cambria Math" panose="02040503050406030204" pitchFamily="18" charset="0"/>
                      </a:rPr>
                      <m:t>− 2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diamonds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…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4D674F-64E2-408A-BA7E-F29808F40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5590D-7867-4AB9-A7E4-BF27467ED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10</a:t>
            </a:fld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2137BB8-0E01-4E3E-BEC0-A3FFDB35EAD8}"/>
              </a:ext>
            </a:extLst>
          </p:cNvPr>
          <p:cNvGrpSpPr>
            <a:grpSpLocks noChangeAspect="1"/>
          </p:cNvGrpSpPr>
          <p:nvPr/>
        </p:nvGrpSpPr>
        <p:grpSpPr>
          <a:xfrm>
            <a:off x="9371106" y="2143556"/>
            <a:ext cx="1455895" cy="1392025"/>
            <a:chOff x="8980158" y="1870075"/>
            <a:chExt cx="605130" cy="578583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7A5BDC9-2E15-436C-B466-ABF00666B6E3}"/>
                </a:ext>
              </a:extLst>
            </p:cNvPr>
            <p:cNvCxnSpPr>
              <a:cxnSpLocks/>
              <a:stCxn id="15" idx="4"/>
              <a:endCxn id="16" idx="0"/>
            </p:cNvCxnSpPr>
            <p:nvPr/>
          </p:nvCxnSpPr>
          <p:spPr>
            <a:xfrm>
              <a:off x="9063526" y="2036810"/>
              <a:ext cx="0" cy="245112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B81B3A7-3250-476E-B81D-3220E48D4961}"/>
                </a:ext>
              </a:extLst>
            </p:cNvPr>
            <p:cNvCxnSpPr>
              <a:cxnSpLocks/>
              <a:stCxn id="16" idx="6"/>
              <a:endCxn id="17" idx="2"/>
            </p:cNvCxnSpPr>
            <p:nvPr/>
          </p:nvCxnSpPr>
          <p:spPr>
            <a:xfrm flipV="1">
              <a:off x="9146893" y="2364045"/>
              <a:ext cx="271659" cy="1245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C4563E5-58AC-41EA-8673-235BE1943F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80158" y="1870075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4444643-ED54-4516-853C-0B69CBEB41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80158" y="2281923"/>
              <a:ext cx="166735" cy="166735"/>
            </a:xfrm>
            <a:prstGeom prst="ellipse">
              <a:avLst/>
            </a:prstGeom>
            <a:solidFill>
              <a:srgbClr val="C42F5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ABA2F3F-0F7E-4216-AF2B-17375BEB2A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18553" y="2280677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A4206FE-1D36-4A3B-A1A6-2B15517BF540}"/>
              </a:ext>
            </a:extLst>
          </p:cNvPr>
          <p:cNvGrpSpPr/>
          <p:nvPr/>
        </p:nvGrpSpPr>
        <p:grpSpPr>
          <a:xfrm>
            <a:off x="9381208" y="2144697"/>
            <a:ext cx="1446587" cy="1389747"/>
            <a:chOff x="8980158" y="2840590"/>
            <a:chExt cx="605130" cy="58135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E938213-A9BA-40DE-B353-4891A9F5F1CD}"/>
                </a:ext>
              </a:extLst>
            </p:cNvPr>
            <p:cNvCxnSpPr>
              <a:cxnSpLocks/>
              <a:stCxn id="30" idx="3"/>
              <a:endCxn id="28" idx="7"/>
            </p:cNvCxnSpPr>
            <p:nvPr/>
          </p:nvCxnSpPr>
          <p:spPr>
            <a:xfrm flipH="1">
              <a:off x="9122475" y="2982907"/>
              <a:ext cx="320495" cy="296718"/>
            </a:xfrm>
            <a:prstGeom prst="straightConnector1">
              <a:avLst/>
            </a:prstGeom>
            <a:ln w="50800">
              <a:solidFill>
                <a:srgbClr val="C42F5A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6430C17-A069-4AC4-999C-EA9C8D14714C}"/>
                </a:ext>
              </a:extLst>
            </p:cNvPr>
            <p:cNvCxnSpPr>
              <a:cxnSpLocks/>
            </p:cNvCxnSpPr>
            <p:nvPr/>
          </p:nvCxnSpPr>
          <p:spPr>
            <a:xfrm>
              <a:off x="9502407" y="3007325"/>
              <a:ext cx="0" cy="245112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91A97BF-91AF-468C-A3AD-C2B2F8154A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615" y="2922712"/>
              <a:ext cx="271659" cy="1245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B6212CF-F7E8-4653-B4DE-D7DFBEEF1E6E}"/>
                </a:ext>
              </a:extLst>
            </p:cNvPr>
            <p:cNvCxnSpPr>
              <a:cxnSpLocks/>
              <a:stCxn id="27" idx="4"/>
              <a:endCxn id="28" idx="0"/>
            </p:cNvCxnSpPr>
            <p:nvPr/>
          </p:nvCxnSpPr>
          <p:spPr>
            <a:xfrm>
              <a:off x="9063526" y="3010095"/>
              <a:ext cx="0" cy="245112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F4026D5-D46D-408C-801A-6EA68689B9C6}"/>
                </a:ext>
              </a:extLst>
            </p:cNvPr>
            <p:cNvCxnSpPr>
              <a:cxnSpLocks/>
              <a:stCxn id="28" idx="6"/>
              <a:endCxn id="29" idx="2"/>
            </p:cNvCxnSpPr>
            <p:nvPr/>
          </p:nvCxnSpPr>
          <p:spPr>
            <a:xfrm flipV="1">
              <a:off x="9146893" y="3337330"/>
              <a:ext cx="271659" cy="1245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8EFBA8-AE73-4F61-9859-AD5D4F102F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80158" y="2843360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8506CD7-2B31-4928-BE75-C13A6844BF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80158" y="3255208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3F1EAF2-24A2-4EB8-B788-FC2C778B37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18553" y="3253962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5A6CEC7-C28A-4C0C-BB6C-5992FEDCFE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18552" y="2840590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B675EFC-6429-4968-A771-19DC91B0D4FD}"/>
              </a:ext>
            </a:extLst>
          </p:cNvPr>
          <p:cNvGrpSpPr>
            <a:grpSpLocks noChangeAspect="1"/>
          </p:cNvGrpSpPr>
          <p:nvPr/>
        </p:nvGrpSpPr>
        <p:grpSpPr>
          <a:xfrm>
            <a:off x="9372458" y="2120855"/>
            <a:ext cx="1489327" cy="1430808"/>
            <a:chOff x="9502407" y="3734212"/>
            <a:chExt cx="605130" cy="581353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7212773-D834-415B-ABDE-170B313898FC}"/>
                </a:ext>
              </a:extLst>
            </p:cNvPr>
            <p:cNvCxnSpPr>
              <a:cxnSpLocks/>
              <a:stCxn id="42" idx="3"/>
              <a:endCxn id="40" idx="7"/>
            </p:cNvCxnSpPr>
            <p:nvPr/>
          </p:nvCxnSpPr>
          <p:spPr>
            <a:xfrm flipH="1">
              <a:off x="9644724" y="3876529"/>
              <a:ext cx="320495" cy="296719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54BD599-D022-4B37-B394-E585E2A30F3F}"/>
                </a:ext>
              </a:extLst>
            </p:cNvPr>
            <p:cNvCxnSpPr>
              <a:cxnSpLocks/>
            </p:cNvCxnSpPr>
            <p:nvPr/>
          </p:nvCxnSpPr>
          <p:spPr>
            <a:xfrm>
              <a:off x="10024656" y="3900947"/>
              <a:ext cx="0" cy="245112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7529E5D-8511-412A-BE5D-CAE4CDBD667E}"/>
                </a:ext>
              </a:extLst>
            </p:cNvPr>
            <p:cNvCxnSpPr>
              <a:cxnSpLocks/>
              <a:stCxn id="39" idx="4"/>
              <a:endCxn id="40" idx="0"/>
            </p:cNvCxnSpPr>
            <p:nvPr/>
          </p:nvCxnSpPr>
          <p:spPr>
            <a:xfrm>
              <a:off x="9585775" y="3903717"/>
              <a:ext cx="0" cy="245112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FDE1CAE-2EE2-438B-87B4-F3308C39F6C5}"/>
                </a:ext>
              </a:extLst>
            </p:cNvPr>
            <p:cNvCxnSpPr>
              <a:cxnSpLocks/>
              <a:stCxn id="40" idx="6"/>
              <a:endCxn id="41" idx="2"/>
            </p:cNvCxnSpPr>
            <p:nvPr/>
          </p:nvCxnSpPr>
          <p:spPr>
            <a:xfrm flipV="1">
              <a:off x="9669142" y="4230952"/>
              <a:ext cx="271659" cy="1245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D1D810C-9E7A-4DC7-9271-6C355866E3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02407" y="3736982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B64DC8A-D8DF-47E4-AB57-7A674A27D7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02407" y="4148830"/>
              <a:ext cx="166735" cy="166735"/>
            </a:xfrm>
            <a:prstGeom prst="ellipse">
              <a:avLst/>
            </a:prstGeom>
            <a:solidFill>
              <a:srgbClr val="C42F5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3881C7A-2C74-49F3-8E1A-24A70011A9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40802" y="4147584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9BFC96D-A1F7-4E47-AB78-E7EC8BE06E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40801" y="3734212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507D43C-E5F8-4ED7-BA1C-77BB592174B8}"/>
              </a:ext>
            </a:extLst>
          </p:cNvPr>
          <p:cNvGrpSpPr>
            <a:grpSpLocks noChangeAspect="1"/>
          </p:cNvGrpSpPr>
          <p:nvPr/>
        </p:nvGrpSpPr>
        <p:grpSpPr>
          <a:xfrm>
            <a:off x="8831618" y="1646238"/>
            <a:ext cx="2487603" cy="2359696"/>
            <a:chOff x="10370331" y="2871664"/>
            <a:chExt cx="1040912" cy="987391"/>
          </a:xfrm>
        </p:grpSpPr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967F6C00-625E-4CD1-B4C2-5913EC44DB14}"/>
                </a:ext>
              </a:extLst>
            </p:cNvPr>
            <p:cNvCxnSpPr>
              <a:cxnSpLocks/>
              <a:stCxn id="53" idx="7"/>
              <a:endCxn id="64" idx="3"/>
            </p:cNvCxnSpPr>
            <p:nvPr/>
          </p:nvCxnSpPr>
          <p:spPr>
            <a:xfrm flipV="1">
              <a:off x="10951043" y="3421265"/>
              <a:ext cx="317883" cy="295473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E76DEC8-85F8-47C8-93A5-B8EC86D4C716}"/>
                </a:ext>
              </a:extLst>
            </p:cNvPr>
            <p:cNvCxnSpPr>
              <a:cxnSpLocks/>
              <a:stCxn id="54" idx="6"/>
              <a:endCxn id="64" idx="2"/>
            </p:cNvCxnSpPr>
            <p:nvPr/>
          </p:nvCxnSpPr>
          <p:spPr>
            <a:xfrm>
              <a:off x="10975460" y="3362316"/>
              <a:ext cx="269048" cy="0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8FC00ED-B951-43BF-AED5-B83F7638EE69}"/>
                </a:ext>
              </a:extLst>
            </p:cNvPr>
            <p:cNvCxnSpPr>
              <a:cxnSpLocks/>
              <a:stCxn id="54" idx="0"/>
              <a:endCxn id="52" idx="4"/>
            </p:cNvCxnSpPr>
            <p:nvPr/>
          </p:nvCxnSpPr>
          <p:spPr>
            <a:xfrm flipV="1">
              <a:off x="10892093" y="3038399"/>
              <a:ext cx="0" cy="240549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C868465-C52B-4FF5-B054-1EC70442955E}"/>
                </a:ext>
              </a:extLst>
            </p:cNvPr>
            <p:cNvCxnSpPr>
              <a:cxnSpLocks/>
            </p:cNvCxnSpPr>
            <p:nvPr/>
          </p:nvCxnSpPr>
          <p:spPr>
            <a:xfrm>
              <a:off x="10892580" y="3445683"/>
              <a:ext cx="0" cy="245112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C61DD99B-71A3-408F-894E-70704FD4E2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34788" y="3361070"/>
              <a:ext cx="271659" cy="1245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DCD5882-610D-4526-8C18-9B394900FB75}"/>
                </a:ext>
              </a:extLst>
            </p:cNvPr>
            <p:cNvCxnSpPr>
              <a:cxnSpLocks/>
              <a:stCxn id="51" idx="7"/>
              <a:endCxn id="52" idx="3"/>
            </p:cNvCxnSpPr>
            <p:nvPr/>
          </p:nvCxnSpPr>
          <p:spPr>
            <a:xfrm flipV="1">
              <a:off x="10512648" y="3013981"/>
              <a:ext cx="320495" cy="292155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1C06D2B-0E29-4D03-B7BD-BC3A6AFFCC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70331" y="3281718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49D32F3-5CD0-450D-8AA5-603A4597B1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8725" y="2871664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358654B-CD19-4FA0-8A56-8B2DCF3E2C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8726" y="3692320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7D4401A-8120-4260-A405-166E228880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8725" y="3278948"/>
              <a:ext cx="166735" cy="166735"/>
            </a:xfrm>
            <a:prstGeom prst="ellipse">
              <a:avLst/>
            </a:prstGeom>
            <a:solidFill>
              <a:srgbClr val="C42F5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3719AE1-9403-4F6B-AAEA-3E594D88AB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44508" y="3278948"/>
              <a:ext cx="166735" cy="166735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59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DEEB3A-2BF0-43C8-A1D9-7764F7E0DB10}"/>
                  </a:ext>
                </a:extLst>
              </p:cNvPr>
              <p:cNvSpPr txBox="1"/>
              <p:nvPr/>
            </p:nvSpPr>
            <p:spPr>
              <a:xfrm>
                <a:off x="838200" y="1615180"/>
                <a:ext cx="8942119" cy="4741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DA260"/>
                    </a:solidFill>
                  </a:rPr>
                  <a:t>def</a:t>
                </a:r>
                <a:r>
                  <a:rPr lang="en-US" sz="2400" dirty="0"/>
                  <a:t> count_3-stars():</a:t>
                </a:r>
              </a:p>
              <a:p>
                <a:pPr lvl="1"/>
                <a:r>
                  <a:rPr lang="en-US" sz="2400" dirty="0"/>
                  <a:t>3-stars = { }</a:t>
                </a:r>
              </a:p>
              <a:p>
                <a:pPr lvl="1"/>
                <a:r>
                  <a:rPr lang="en-US" sz="2400" dirty="0">
                    <a:solidFill>
                      <a:srgbClr val="FDA260"/>
                    </a:solidFill>
                  </a:rPr>
                  <a:t>for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FDA260"/>
                    </a:solidFill>
                  </a:rPr>
                  <a:t>do:</a:t>
                </a:r>
              </a:p>
              <a:p>
                <a:pPr lvl="1"/>
                <a:r>
                  <a:rPr lang="en-US" sz="2400" dirty="0">
                    <a:solidFill>
                      <a:srgbClr val="FDA260"/>
                    </a:solidFill>
                  </a:rPr>
                  <a:t>   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400" b="0" i="1" smtClean="0">
                        <a:solidFill>
                          <a:srgbClr val="FED57A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2400" b="0" i="1" smtClean="0">
                        <a:solidFill>
                          <a:srgbClr val="FED57A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rgbClr val="FDA260"/>
                    </a:solidFill>
                  </a:rPr>
                  <a:t> do:</a:t>
                </a:r>
              </a:p>
              <a:p>
                <a:pPr lvl="1"/>
                <a:r>
                  <a:rPr lang="en-US" sz="2400" dirty="0">
                    <a:solidFill>
                      <a:srgbClr val="FED57A"/>
                    </a:solidFill>
                  </a:rPr>
                  <a:t>        3-stars[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] +=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sz="2400" b="0" i="0" smtClean="0">
                                        <a:latin typeface="Cambria Math" panose="02040503050406030204" pitchFamily="18" charset="0"/>
                                      </a:rPr>
                                      <m:t>deg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</m:fName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func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 </a:t>
                </a:r>
              </a:p>
              <a:p>
                <a:pPr lvl="1"/>
                <a:r>
                  <a:rPr lang="en-US" sz="2400" dirty="0">
                    <a:solidFill>
                      <a:srgbClr val="FDA260"/>
                    </a:solidFill>
                  </a:rPr>
                  <a:t>       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400" b="0" i="1" smtClean="0">
                        <a:solidFill>
                          <a:srgbClr val="FED57A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2400" b="0" i="1" smtClean="0">
                        <a:solidFill>
                          <a:srgbClr val="FED57A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smtClean="0">
                        <a:solidFill>
                          <a:srgbClr val="FED57A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400" b="0" i="1" smtClean="0">
                        <a:solidFill>
                          <a:srgbClr val="FED57A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sSub>
                      <m:sSubPr>
                        <m:ctrlP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DA260"/>
                    </a:solidFill>
                  </a:rPr>
                  <a:t> do:</a:t>
                </a:r>
              </a:p>
              <a:p>
                <a:pPr lvl="1"/>
                <a:r>
                  <a:rPr lang="en-US" sz="2400" dirty="0">
                    <a:solidFill>
                      <a:srgbClr val="FED57A"/>
                    </a:solidFill>
                  </a:rPr>
                  <a:t>            3-stars[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] +=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sz="2400" b="0" i="0" smtClean="0">
                                        <a:latin typeface="Cambria Math" panose="02040503050406030204" pitchFamily="18" charset="0"/>
                                      </a:rPr>
                                      <m:t>deg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</m:fName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func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e>
                          <m:sub>
                            <m:sSub>
                              <m:sSubPr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fName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de-DE" sz="2400" b="0" dirty="0"/>
              </a:p>
              <a:p>
                <a:pPr lvl="1"/>
                <a:r>
                  <a:rPr lang="en-US" sz="2400" dirty="0">
                    <a:solidFill>
                      <a:srgbClr val="FED57A"/>
                    </a:solidFill>
                  </a:rPr>
                  <a:t>            3-stars[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] +=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e>
                          <m:sub>
                            <m:sSub>
                              <m:sSubPr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fName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sz="2400" b="0" i="0" smtClean="0">
                                        <a:latin typeface="Cambria Math" panose="02040503050406030204" pitchFamily="18" charset="0"/>
                                      </a:rPr>
                                      <m:t>deg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fName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func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rgbClr val="FDA260"/>
                  </a:solidFill>
                </a:endParaRPr>
              </a:p>
              <a:p>
                <a:pPr lvl="1"/>
                <a:r>
                  <a:rPr lang="en-US" sz="2400" dirty="0">
                    <a:solidFill>
                      <a:srgbClr val="FDA260"/>
                    </a:solidFill>
                  </a:rPr>
                  <a:t>           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400" b="0" i="1" smtClean="0">
                        <a:solidFill>
                          <a:srgbClr val="FED57A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2400" b="0" i="1" smtClean="0">
                        <a:solidFill>
                          <a:srgbClr val="FED57A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smtClean="0">
                        <a:solidFill>
                          <a:srgbClr val="FED57A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400" b="0" i="1" smtClean="0">
                        <a:solidFill>
                          <a:srgbClr val="FED57A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sSub>
                      <m:sSubPr>
                        <m:ctrlP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DA260"/>
                    </a:solidFill>
                  </a:rPr>
                  <a:t> do:</a:t>
                </a:r>
              </a:p>
              <a:p>
                <a:pPr lvl="1"/>
                <a:r>
                  <a:rPr lang="en-US" sz="2400" dirty="0">
                    <a:solidFill>
                      <a:srgbClr val="FED57A"/>
                    </a:solidFill>
                  </a:rPr>
                  <a:t>                3-stars[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smtClean="0">
                            <a:solidFill>
                              <a:srgbClr val="FED57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ED57A"/>
                    </a:solidFill>
                  </a:rPr>
                  <a:t>] +=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e>
                          <m:sub>
                            <m:sSub>
                              <m:sSubPr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fName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e>
                          <m:sub>
                            <m:sSub>
                              <m:sSubPr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fName>
                      <m:e>
                        <m:d>
                          <m:d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func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e>
                          <m:sub>
                            <m:sSub>
                              <m:sSubPr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fName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400" dirty="0">
                  <a:solidFill>
                    <a:srgbClr val="FDA260"/>
                  </a:solidFill>
                </a:endParaRPr>
              </a:p>
              <a:p>
                <a:pPr lvl="1"/>
                <a:r>
                  <a:rPr lang="en-US" sz="2400" dirty="0">
                    <a:solidFill>
                      <a:srgbClr val="FDA260"/>
                    </a:solidFill>
                  </a:rPr>
                  <a:t>return</a:t>
                </a:r>
                <a:r>
                  <a:rPr lang="en-US" sz="2400" dirty="0"/>
                  <a:t> 3-stars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DEEB3A-2BF0-43C8-A1D9-7764F7E0D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15180"/>
                <a:ext cx="8942119" cy="4741170"/>
              </a:xfrm>
              <a:prstGeom prst="rect">
                <a:avLst/>
              </a:prstGeom>
              <a:blipFill>
                <a:blip r:embed="rId2"/>
                <a:stretch>
                  <a:fillRect l="-1091" t="-900" b="-1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B781492-E150-43F1-9968-9FCA2DA2A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Preserving the Types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226A3-9E5B-4BCD-AA87-69166DE34D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26454" y="3504855"/>
                <a:ext cx="4122107" cy="66705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# 3-stars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deg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226A3-9E5B-4BCD-AA87-69166DE34D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26454" y="3504855"/>
                <a:ext cx="4122107" cy="667054"/>
              </a:xfrm>
              <a:blipFill>
                <a:blip r:embed="rId3"/>
                <a:stretch>
                  <a:fillRect l="-3107" t="-8257" b="-5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E3393-EB48-44AF-A9F1-296B3305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11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3A4ACBC-6009-4925-9CAB-081C262D06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2559" y="3268564"/>
            <a:ext cx="937701" cy="9377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E0957A-5949-4153-8457-2E8F17CCD16A}"/>
              </a:ext>
            </a:extLst>
          </p:cNvPr>
          <p:cNvSpPr txBox="1"/>
          <p:nvPr/>
        </p:nvSpPr>
        <p:spPr>
          <a:xfrm>
            <a:off x="7129670" y="2140683"/>
            <a:ext cx="448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DA260"/>
                </a:solidFill>
              </a:rPr>
              <a:t>There are </a:t>
            </a:r>
            <a:r>
              <a:rPr lang="en-US" sz="2000" b="1" dirty="0">
                <a:solidFill>
                  <a:srgbClr val="C42F5A"/>
                </a:solidFill>
              </a:rPr>
              <a:t>28 more</a:t>
            </a:r>
            <a:r>
              <a:rPr lang="en-US" sz="2000" b="1" dirty="0">
                <a:solidFill>
                  <a:srgbClr val="FDA260"/>
                </a:solidFill>
              </a:rPr>
              <a:t>…</a:t>
            </a:r>
            <a:br>
              <a:rPr lang="en-US" sz="2000" b="1" dirty="0">
                <a:solidFill>
                  <a:srgbClr val="FDA260"/>
                </a:solidFill>
              </a:rPr>
            </a:br>
            <a:r>
              <a:rPr lang="en-US" sz="2000" b="1" dirty="0">
                <a:solidFill>
                  <a:srgbClr val="FDA260"/>
                </a:solidFill>
              </a:rPr>
              <a:t>see our paper [5] and  appendix [6]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383FBE-D44B-4CF3-9DEC-618FEBA89F84}"/>
              </a:ext>
            </a:extLst>
          </p:cNvPr>
          <p:cNvCxnSpPr>
            <a:cxnSpLocks/>
            <a:stCxn id="19" idx="3"/>
            <a:endCxn id="17" idx="7"/>
          </p:cNvCxnSpPr>
          <p:nvPr/>
        </p:nvCxnSpPr>
        <p:spPr>
          <a:xfrm flipH="1">
            <a:off x="9262401" y="2239146"/>
            <a:ext cx="736923" cy="675886"/>
          </a:xfrm>
          <a:prstGeom prst="straightConnector1">
            <a:avLst/>
          </a:prstGeom>
          <a:ln w="50800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C37E06-0957-466E-B820-A7BB0F7304B4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>
            <a:off x="9126857" y="2295291"/>
            <a:ext cx="0" cy="563593"/>
          </a:xfrm>
          <a:prstGeom prst="straightConnector1">
            <a:avLst/>
          </a:prstGeom>
          <a:ln w="50800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BCB1A4C-A996-4A9E-AE65-153EEEA11C4D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 flipV="1">
            <a:off x="9318546" y="3047712"/>
            <a:ext cx="624633" cy="2863"/>
          </a:xfrm>
          <a:prstGeom prst="straightConnector1">
            <a:avLst/>
          </a:prstGeom>
          <a:ln w="50800">
            <a:solidFill>
              <a:srgbClr val="FDA2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0D95EB7-82E9-4D7E-A3EA-96118D41E3ED}"/>
              </a:ext>
            </a:extLst>
          </p:cNvPr>
          <p:cNvSpPr>
            <a:spLocks noChangeAspect="1"/>
          </p:cNvSpPr>
          <p:nvPr/>
        </p:nvSpPr>
        <p:spPr>
          <a:xfrm>
            <a:off x="8935167" y="1911912"/>
            <a:ext cx="383379" cy="383379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A20970-C3C7-49B3-822B-C71152046C4E}"/>
              </a:ext>
            </a:extLst>
          </p:cNvPr>
          <p:cNvSpPr>
            <a:spLocks noChangeAspect="1"/>
          </p:cNvSpPr>
          <p:nvPr/>
        </p:nvSpPr>
        <p:spPr>
          <a:xfrm>
            <a:off x="8935167" y="2858886"/>
            <a:ext cx="383379" cy="383379"/>
          </a:xfrm>
          <a:prstGeom prst="ellipse">
            <a:avLst/>
          </a:prstGeom>
          <a:solidFill>
            <a:srgbClr val="C42F5A"/>
          </a:solidFill>
          <a:ln>
            <a:solidFill>
              <a:srgbClr val="C42F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6DE29D-CB86-4C5F-980B-D4DB62433992}"/>
              </a:ext>
            </a:extLst>
          </p:cNvPr>
          <p:cNvSpPr>
            <a:spLocks noChangeAspect="1"/>
          </p:cNvSpPr>
          <p:nvPr/>
        </p:nvSpPr>
        <p:spPr>
          <a:xfrm>
            <a:off x="9943181" y="2856021"/>
            <a:ext cx="383379" cy="383379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165C06-20A4-4227-8465-772AEA6211B6}"/>
              </a:ext>
            </a:extLst>
          </p:cNvPr>
          <p:cNvSpPr>
            <a:spLocks noChangeAspect="1"/>
          </p:cNvSpPr>
          <p:nvPr/>
        </p:nvSpPr>
        <p:spPr>
          <a:xfrm>
            <a:off x="9943179" y="1911912"/>
            <a:ext cx="383379" cy="383379"/>
          </a:xfrm>
          <a:prstGeom prst="ellipse">
            <a:avLst/>
          </a:prstGeom>
          <a:solidFill>
            <a:srgbClr val="FED57A"/>
          </a:solidFill>
          <a:ln>
            <a:solidFill>
              <a:srgbClr val="FED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868440F-2C24-442A-9212-8C5C2AB3173E}"/>
                  </a:ext>
                </a:extLst>
              </p:cNvPr>
              <p:cNvSpPr txBox="1"/>
              <p:nvPr/>
            </p:nvSpPr>
            <p:spPr>
              <a:xfrm>
                <a:off x="8588968" y="3047710"/>
                <a:ext cx="3262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868440F-2C24-442A-9212-8C5C2AB31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968" y="3047710"/>
                <a:ext cx="326217" cy="461665"/>
              </a:xfrm>
              <a:prstGeom prst="rect">
                <a:avLst/>
              </a:prstGeom>
              <a:blipFill>
                <a:blip r:embed="rId6"/>
                <a:stretch>
                  <a:fillRect l="-1887" r="-20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316359-D96C-47B0-8D05-4D797D66B1BA}"/>
                  </a:ext>
                </a:extLst>
              </p:cNvPr>
              <p:cNvSpPr txBox="1"/>
              <p:nvPr/>
            </p:nvSpPr>
            <p:spPr>
              <a:xfrm>
                <a:off x="8531806" y="1615618"/>
                <a:ext cx="3262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316359-D96C-47B0-8D05-4D797D66B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806" y="1615618"/>
                <a:ext cx="326217" cy="461665"/>
              </a:xfrm>
              <a:prstGeom prst="rect">
                <a:avLst/>
              </a:prstGeom>
              <a:blipFill>
                <a:blip r:embed="rId7"/>
                <a:stretch>
                  <a:fillRect l="-1887" r="-26415"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79FB77-13B1-494F-83D6-A81329140BA0}"/>
                  </a:ext>
                </a:extLst>
              </p:cNvPr>
              <p:cNvSpPr txBox="1"/>
              <p:nvPr/>
            </p:nvSpPr>
            <p:spPr>
              <a:xfrm>
                <a:off x="10258184" y="1615618"/>
                <a:ext cx="3262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79FB77-13B1-494F-83D6-A81329140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8184" y="1615618"/>
                <a:ext cx="326217" cy="461665"/>
              </a:xfrm>
              <a:prstGeom prst="rect">
                <a:avLst/>
              </a:prstGeom>
              <a:blipFill>
                <a:blip r:embed="rId8"/>
                <a:stretch>
                  <a:fillRect l="-1887" r="-26415"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FAFD252-3652-4200-AFC9-7EF8747069C8}"/>
                  </a:ext>
                </a:extLst>
              </p:cNvPr>
              <p:cNvSpPr txBox="1"/>
              <p:nvPr/>
            </p:nvSpPr>
            <p:spPr>
              <a:xfrm>
                <a:off x="10260596" y="3107834"/>
                <a:ext cx="3262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FAFD252-3652-4200-AFC9-7EF874706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596" y="3107834"/>
                <a:ext cx="326217" cy="461665"/>
              </a:xfrm>
              <a:prstGeom prst="rect">
                <a:avLst/>
              </a:prstGeom>
              <a:blipFill>
                <a:blip r:embed="rId9"/>
                <a:stretch>
                  <a:fillRect r="-24074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626B72DF-3475-46EB-B3D2-5FAFA2737EC6}"/>
              </a:ext>
            </a:extLst>
          </p:cNvPr>
          <p:cNvGrpSpPr/>
          <p:nvPr/>
        </p:nvGrpSpPr>
        <p:grpSpPr>
          <a:xfrm>
            <a:off x="6935004" y="1595626"/>
            <a:ext cx="2055007" cy="1953881"/>
            <a:chOff x="5237735" y="1294901"/>
            <a:chExt cx="2055007" cy="1953881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900D4D7-4420-458D-9D78-1FC39B77C92C}"/>
                </a:ext>
              </a:extLst>
            </p:cNvPr>
            <p:cNvCxnSpPr>
              <a:cxnSpLocks/>
              <a:stCxn id="30" idx="3"/>
              <a:endCxn id="28" idx="7"/>
            </p:cNvCxnSpPr>
            <p:nvPr/>
          </p:nvCxnSpPr>
          <p:spPr>
            <a:xfrm flipH="1">
              <a:off x="5968330" y="1918429"/>
              <a:ext cx="736923" cy="675886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FD20531-7F69-47D1-AF14-C8E892DB119E}"/>
                </a:ext>
              </a:extLst>
            </p:cNvPr>
            <p:cNvCxnSpPr>
              <a:cxnSpLocks/>
              <a:stCxn id="27" idx="4"/>
              <a:endCxn id="28" idx="0"/>
            </p:cNvCxnSpPr>
            <p:nvPr/>
          </p:nvCxnSpPr>
          <p:spPr>
            <a:xfrm>
              <a:off x="5832786" y="1974574"/>
              <a:ext cx="0" cy="563593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C7554C9-7DDF-448C-8024-8DF0F3C00940}"/>
                </a:ext>
              </a:extLst>
            </p:cNvPr>
            <p:cNvCxnSpPr>
              <a:cxnSpLocks/>
              <a:stCxn id="28" idx="6"/>
              <a:endCxn id="29" idx="2"/>
            </p:cNvCxnSpPr>
            <p:nvPr/>
          </p:nvCxnSpPr>
          <p:spPr>
            <a:xfrm flipV="1">
              <a:off x="6024475" y="2726995"/>
              <a:ext cx="624633" cy="2863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996625A-05B5-48CE-87CD-78031866D6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41096" y="1591195"/>
              <a:ext cx="383379" cy="383379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7BFACEC-F18B-4AEC-AF3C-EF19E07762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41096" y="2538169"/>
              <a:ext cx="383379" cy="383379"/>
            </a:xfrm>
            <a:prstGeom prst="ellipse">
              <a:avLst/>
            </a:prstGeom>
            <a:solidFill>
              <a:srgbClr val="C42F5A"/>
            </a:solidFill>
            <a:ln>
              <a:solidFill>
                <a:srgbClr val="C42F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5E375D0-3821-40BE-92AE-B402EF67AA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49110" y="2535304"/>
              <a:ext cx="383379" cy="383379"/>
            </a:xfrm>
            <a:prstGeom prst="ellipse">
              <a:avLst/>
            </a:prstGeom>
            <a:solidFill>
              <a:srgbClr val="74C6FA"/>
            </a:solidFill>
            <a:ln>
              <a:solidFill>
                <a:srgbClr val="74C6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5F20482-4B91-442B-8713-BC99A55381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49108" y="1591195"/>
              <a:ext cx="383379" cy="383379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0B2203D-5510-4343-9827-52155B43CACF}"/>
                    </a:ext>
                  </a:extLst>
                </p:cNvPr>
                <p:cNvSpPr txBox="1"/>
                <p:nvPr/>
              </p:nvSpPr>
              <p:spPr>
                <a:xfrm>
                  <a:off x="5294897" y="2726993"/>
                  <a:ext cx="32621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0B2203D-5510-4343-9827-52155B43CA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4897" y="2726993"/>
                  <a:ext cx="326217" cy="461665"/>
                </a:xfrm>
                <a:prstGeom prst="rect">
                  <a:avLst/>
                </a:prstGeom>
                <a:blipFill>
                  <a:blip r:embed="rId10"/>
                  <a:stretch>
                    <a:fillRect r="-20370"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FF0A16D-3FAF-46B5-B4D2-DF936EAA0210}"/>
                    </a:ext>
                  </a:extLst>
                </p:cNvPr>
                <p:cNvSpPr txBox="1"/>
                <p:nvPr/>
              </p:nvSpPr>
              <p:spPr>
                <a:xfrm>
                  <a:off x="5237735" y="1294901"/>
                  <a:ext cx="32621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FF0A16D-3FAF-46B5-B4D2-DF936EAA0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7735" y="1294901"/>
                  <a:ext cx="326217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887" r="-26415"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1779E70-773D-4E6E-9839-8DCD546B46CB}"/>
                    </a:ext>
                  </a:extLst>
                </p:cNvPr>
                <p:cNvSpPr txBox="1"/>
                <p:nvPr/>
              </p:nvSpPr>
              <p:spPr>
                <a:xfrm>
                  <a:off x="6964113" y="1294901"/>
                  <a:ext cx="32621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1779E70-773D-4E6E-9839-8DCD546B46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4113" y="1294901"/>
                  <a:ext cx="326217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1887" r="-26415"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B1A8F36-3ABB-474D-BC55-77E83564350D}"/>
                    </a:ext>
                  </a:extLst>
                </p:cNvPr>
                <p:cNvSpPr txBox="1"/>
                <p:nvPr/>
              </p:nvSpPr>
              <p:spPr>
                <a:xfrm>
                  <a:off x="6966525" y="2787117"/>
                  <a:ext cx="32621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B1A8F36-3ABB-474D-BC55-77E8356435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6525" y="2787117"/>
                  <a:ext cx="326217" cy="461665"/>
                </a:xfrm>
                <a:prstGeom prst="rect">
                  <a:avLst/>
                </a:prstGeom>
                <a:blipFill>
                  <a:blip r:embed="rId13"/>
                  <a:stretch>
                    <a:fillRect r="-22222"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4D29413-E740-4079-85E6-2A6D0D925B5E}"/>
              </a:ext>
            </a:extLst>
          </p:cNvPr>
          <p:cNvGrpSpPr/>
          <p:nvPr/>
        </p:nvGrpSpPr>
        <p:grpSpPr>
          <a:xfrm>
            <a:off x="9490483" y="1611098"/>
            <a:ext cx="2055007" cy="1953881"/>
            <a:chOff x="5237735" y="1294901"/>
            <a:chExt cx="2055007" cy="1953881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F9F0F4B-3C5E-4C53-8B82-63F2772AC29E}"/>
                </a:ext>
              </a:extLst>
            </p:cNvPr>
            <p:cNvCxnSpPr>
              <a:cxnSpLocks/>
              <a:stCxn id="43" idx="3"/>
              <a:endCxn id="41" idx="7"/>
            </p:cNvCxnSpPr>
            <p:nvPr/>
          </p:nvCxnSpPr>
          <p:spPr>
            <a:xfrm flipH="1">
              <a:off x="5968330" y="1918429"/>
              <a:ext cx="736923" cy="675886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D5F5CF4-73BE-45A0-9D45-D7B011BA1F00}"/>
                </a:ext>
              </a:extLst>
            </p:cNvPr>
            <p:cNvCxnSpPr>
              <a:cxnSpLocks/>
              <a:stCxn id="40" idx="4"/>
              <a:endCxn id="41" idx="0"/>
            </p:cNvCxnSpPr>
            <p:nvPr/>
          </p:nvCxnSpPr>
          <p:spPr>
            <a:xfrm>
              <a:off x="5832786" y="1974574"/>
              <a:ext cx="0" cy="563593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8596129-73F4-405F-939D-C02C499F0E99}"/>
                </a:ext>
              </a:extLst>
            </p:cNvPr>
            <p:cNvCxnSpPr>
              <a:cxnSpLocks/>
              <a:stCxn id="41" idx="6"/>
              <a:endCxn id="42" idx="2"/>
            </p:cNvCxnSpPr>
            <p:nvPr/>
          </p:nvCxnSpPr>
          <p:spPr>
            <a:xfrm flipV="1">
              <a:off x="6024475" y="2726995"/>
              <a:ext cx="624633" cy="2863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E49C2DB-1197-4F8A-8874-0DE1174A46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41096" y="1591195"/>
              <a:ext cx="383379" cy="383379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FFC3E4F-764B-4B27-A4E3-08CCA455BC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41096" y="2538169"/>
              <a:ext cx="383379" cy="383379"/>
            </a:xfrm>
            <a:prstGeom prst="ellipse">
              <a:avLst/>
            </a:prstGeom>
            <a:solidFill>
              <a:srgbClr val="C42F5A"/>
            </a:solidFill>
            <a:ln>
              <a:solidFill>
                <a:srgbClr val="C42F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F842438-1F40-47C2-9B46-AA998AAB64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49110" y="2535304"/>
              <a:ext cx="383379" cy="383379"/>
            </a:xfrm>
            <a:prstGeom prst="ellipse">
              <a:avLst/>
            </a:prstGeom>
            <a:solidFill>
              <a:srgbClr val="74C6FA"/>
            </a:solidFill>
            <a:ln>
              <a:solidFill>
                <a:srgbClr val="74C6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4976D1D-A664-42E3-BB60-1DAF70429A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49108" y="1591195"/>
              <a:ext cx="383379" cy="383379"/>
            </a:xfrm>
            <a:prstGeom prst="ellipse">
              <a:avLst/>
            </a:prstGeom>
            <a:solidFill>
              <a:srgbClr val="74C6FA"/>
            </a:solidFill>
            <a:ln>
              <a:solidFill>
                <a:srgbClr val="74C6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E288D24-1DAF-4550-B734-67A395F45524}"/>
                    </a:ext>
                  </a:extLst>
                </p:cNvPr>
                <p:cNvSpPr txBox="1"/>
                <p:nvPr/>
              </p:nvSpPr>
              <p:spPr>
                <a:xfrm>
                  <a:off x="5294897" y="2726993"/>
                  <a:ext cx="32621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E288D24-1DAF-4550-B734-67A395F455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4897" y="2726993"/>
                  <a:ext cx="326217" cy="461665"/>
                </a:xfrm>
                <a:prstGeom prst="rect">
                  <a:avLst/>
                </a:prstGeom>
                <a:blipFill>
                  <a:blip r:embed="rId14"/>
                  <a:stretch>
                    <a:fillRect r="-203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04DC7A0-627E-4433-853C-38B9DE75262A}"/>
                    </a:ext>
                  </a:extLst>
                </p:cNvPr>
                <p:cNvSpPr txBox="1"/>
                <p:nvPr/>
              </p:nvSpPr>
              <p:spPr>
                <a:xfrm>
                  <a:off x="5237735" y="1294901"/>
                  <a:ext cx="32621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04DC7A0-627E-4433-853C-38B9DE7526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7735" y="1294901"/>
                  <a:ext cx="326217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1887" r="-26415" b="-3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93C8451-A465-49CA-8971-B84A8EC95255}"/>
                    </a:ext>
                  </a:extLst>
                </p:cNvPr>
                <p:cNvSpPr txBox="1"/>
                <p:nvPr/>
              </p:nvSpPr>
              <p:spPr>
                <a:xfrm>
                  <a:off x="6964113" y="1294901"/>
                  <a:ext cx="32621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93C8451-A465-49CA-8971-B84A8EC952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4113" y="1294901"/>
                  <a:ext cx="326217" cy="461665"/>
                </a:xfrm>
                <a:prstGeom prst="rect">
                  <a:avLst/>
                </a:prstGeom>
                <a:blipFill>
                  <a:blip r:embed="rId16"/>
                  <a:stretch>
                    <a:fillRect r="-22222" b="-3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166DE48-098E-4A98-B01A-C060318DFDCA}"/>
                    </a:ext>
                  </a:extLst>
                </p:cNvPr>
                <p:cNvSpPr txBox="1"/>
                <p:nvPr/>
              </p:nvSpPr>
              <p:spPr>
                <a:xfrm>
                  <a:off x="6966525" y="2787117"/>
                  <a:ext cx="32621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166DE48-098E-4A98-B01A-C060318DF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6525" y="2787117"/>
                  <a:ext cx="326217" cy="461665"/>
                </a:xfrm>
                <a:prstGeom prst="rect">
                  <a:avLst/>
                </a:prstGeom>
                <a:blipFill>
                  <a:blip r:embed="rId17"/>
                  <a:stretch>
                    <a:fillRect r="-22222" b="-3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0B77484-B807-4570-BE26-9BD9E42A9F56}"/>
              </a:ext>
            </a:extLst>
          </p:cNvPr>
          <p:cNvGrpSpPr/>
          <p:nvPr/>
        </p:nvGrpSpPr>
        <p:grpSpPr>
          <a:xfrm>
            <a:off x="8534532" y="1595626"/>
            <a:ext cx="2055007" cy="1953881"/>
            <a:chOff x="5237735" y="1294901"/>
            <a:chExt cx="2055007" cy="1953881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72A4A72-54C2-4AA0-A0F9-88B057B60042}"/>
                </a:ext>
              </a:extLst>
            </p:cNvPr>
            <p:cNvCxnSpPr>
              <a:cxnSpLocks/>
              <a:stCxn id="55" idx="3"/>
              <a:endCxn id="53" idx="7"/>
            </p:cNvCxnSpPr>
            <p:nvPr/>
          </p:nvCxnSpPr>
          <p:spPr>
            <a:xfrm flipH="1">
              <a:off x="5968330" y="1918429"/>
              <a:ext cx="736923" cy="675886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5CD248C-0062-452C-BA77-B6B6648D2E47}"/>
                </a:ext>
              </a:extLst>
            </p:cNvPr>
            <p:cNvCxnSpPr>
              <a:cxnSpLocks/>
              <a:stCxn id="52" idx="4"/>
              <a:endCxn id="53" idx="0"/>
            </p:cNvCxnSpPr>
            <p:nvPr/>
          </p:nvCxnSpPr>
          <p:spPr>
            <a:xfrm>
              <a:off x="5832786" y="1974574"/>
              <a:ext cx="0" cy="563593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A9621851-6889-47C0-BDE4-789CAD572C94}"/>
                </a:ext>
              </a:extLst>
            </p:cNvPr>
            <p:cNvCxnSpPr>
              <a:cxnSpLocks/>
              <a:stCxn id="53" idx="6"/>
              <a:endCxn id="54" idx="2"/>
            </p:cNvCxnSpPr>
            <p:nvPr/>
          </p:nvCxnSpPr>
          <p:spPr>
            <a:xfrm flipV="1">
              <a:off x="6024475" y="2726995"/>
              <a:ext cx="624633" cy="2863"/>
            </a:xfrm>
            <a:prstGeom prst="straightConnector1">
              <a:avLst/>
            </a:prstGeom>
            <a:ln w="50800">
              <a:solidFill>
                <a:srgbClr val="FDA2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39D5BA8-EC9D-471B-90E9-F130A150BB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41096" y="1591195"/>
              <a:ext cx="383379" cy="383379"/>
            </a:xfrm>
            <a:prstGeom prst="ellipse">
              <a:avLst/>
            </a:prstGeom>
            <a:solidFill>
              <a:srgbClr val="FED57A"/>
            </a:solidFill>
            <a:ln>
              <a:solidFill>
                <a:srgbClr val="FED5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339994A-97D9-4672-A237-92D112643B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41096" y="2538169"/>
              <a:ext cx="383379" cy="383379"/>
            </a:xfrm>
            <a:prstGeom prst="ellipse">
              <a:avLst/>
            </a:prstGeom>
            <a:solidFill>
              <a:srgbClr val="C42F5A"/>
            </a:solidFill>
            <a:ln>
              <a:solidFill>
                <a:srgbClr val="C42F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275A769-EAE4-4962-953A-F950D5BE90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49110" y="2535304"/>
              <a:ext cx="383379" cy="383379"/>
            </a:xfrm>
            <a:prstGeom prst="ellipse">
              <a:avLst/>
            </a:prstGeom>
            <a:solidFill>
              <a:srgbClr val="D26BCC"/>
            </a:solidFill>
            <a:ln>
              <a:solidFill>
                <a:srgbClr val="D26B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6DC79FF-CE9D-4514-BD63-F910DDB306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49108" y="1591195"/>
              <a:ext cx="383379" cy="383379"/>
            </a:xfrm>
            <a:prstGeom prst="ellipse">
              <a:avLst/>
            </a:prstGeom>
            <a:solidFill>
              <a:srgbClr val="74C6FA"/>
            </a:solidFill>
            <a:ln>
              <a:solidFill>
                <a:srgbClr val="74C6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25D6A77-BB6C-4CB6-BB31-E0E203DA9550}"/>
                    </a:ext>
                  </a:extLst>
                </p:cNvPr>
                <p:cNvSpPr txBox="1"/>
                <p:nvPr/>
              </p:nvSpPr>
              <p:spPr>
                <a:xfrm>
                  <a:off x="5294897" y="2726993"/>
                  <a:ext cx="32621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25D6A77-BB6C-4CB6-BB31-E0E203DA95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4897" y="2726993"/>
                  <a:ext cx="326217" cy="461665"/>
                </a:xfrm>
                <a:prstGeom prst="rect">
                  <a:avLst/>
                </a:prstGeom>
                <a:blipFill>
                  <a:blip r:embed="rId18"/>
                  <a:stretch>
                    <a:fillRect r="-20370"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70682A4-9668-44D1-B101-D8763ABB9862}"/>
                    </a:ext>
                  </a:extLst>
                </p:cNvPr>
                <p:cNvSpPr txBox="1"/>
                <p:nvPr/>
              </p:nvSpPr>
              <p:spPr>
                <a:xfrm>
                  <a:off x="5237735" y="1294901"/>
                  <a:ext cx="32621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70682A4-9668-44D1-B101-D8763ABB9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7735" y="1294901"/>
                  <a:ext cx="326217" cy="461665"/>
                </a:xfrm>
                <a:prstGeom prst="rect">
                  <a:avLst/>
                </a:prstGeom>
                <a:blipFill>
                  <a:blip r:embed="rId19"/>
                  <a:stretch>
                    <a:fillRect r="-24074"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FCB85ED0-0DFA-4A26-8AEB-E4FBB9F4DE32}"/>
                    </a:ext>
                  </a:extLst>
                </p:cNvPr>
                <p:cNvSpPr txBox="1"/>
                <p:nvPr/>
              </p:nvSpPr>
              <p:spPr>
                <a:xfrm>
                  <a:off x="6964113" y="1294901"/>
                  <a:ext cx="32621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FCB85ED0-0DFA-4A26-8AEB-E4FBB9F4DE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4113" y="1294901"/>
                  <a:ext cx="326217" cy="461665"/>
                </a:xfrm>
                <a:prstGeom prst="rect">
                  <a:avLst/>
                </a:prstGeom>
                <a:blipFill>
                  <a:blip r:embed="rId20"/>
                  <a:stretch>
                    <a:fillRect r="-22222"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7EC06EC-45A9-4847-974C-02C185B5799A}"/>
                    </a:ext>
                  </a:extLst>
                </p:cNvPr>
                <p:cNvSpPr txBox="1"/>
                <p:nvPr/>
              </p:nvSpPr>
              <p:spPr>
                <a:xfrm>
                  <a:off x="6966525" y="2787117"/>
                  <a:ext cx="32621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7EC06EC-45A9-4847-974C-02C185B57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6525" y="2787117"/>
                  <a:ext cx="326217" cy="461665"/>
                </a:xfrm>
                <a:prstGeom prst="rect">
                  <a:avLst/>
                </a:prstGeom>
                <a:blipFill>
                  <a:blip r:embed="rId21"/>
                  <a:stretch>
                    <a:fillRect l="-1887" r="-26415"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0593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5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5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5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5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5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7DF3E02-894D-4151-8AFB-270571474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941449"/>
              </p:ext>
            </p:extLst>
          </p:nvPr>
        </p:nvGraphicFramePr>
        <p:xfrm>
          <a:off x="838197" y="2052242"/>
          <a:ext cx="10515599" cy="342084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51891">
                  <a:extLst>
                    <a:ext uri="{9D8B030D-6E8A-4147-A177-3AD203B41FA5}">
                      <a16:colId xmlns:a16="http://schemas.microsoft.com/office/drawing/2014/main" val="1380494328"/>
                    </a:ext>
                  </a:extLst>
                </a:gridCol>
                <a:gridCol w="961293">
                  <a:extLst>
                    <a:ext uri="{9D8B030D-6E8A-4147-A177-3AD203B41FA5}">
                      <a16:colId xmlns:a16="http://schemas.microsoft.com/office/drawing/2014/main" val="2290437475"/>
                    </a:ext>
                  </a:extLst>
                </a:gridCol>
                <a:gridCol w="992552">
                  <a:extLst>
                    <a:ext uri="{9D8B030D-6E8A-4147-A177-3AD203B41FA5}">
                      <a16:colId xmlns:a16="http://schemas.microsoft.com/office/drawing/2014/main" val="931994901"/>
                    </a:ext>
                  </a:extLst>
                </a:gridCol>
                <a:gridCol w="851877">
                  <a:extLst>
                    <a:ext uri="{9D8B030D-6E8A-4147-A177-3AD203B41FA5}">
                      <a16:colId xmlns:a16="http://schemas.microsoft.com/office/drawing/2014/main" val="1776464846"/>
                    </a:ext>
                  </a:extLst>
                </a:gridCol>
                <a:gridCol w="1914769">
                  <a:extLst>
                    <a:ext uri="{9D8B030D-6E8A-4147-A177-3AD203B41FA5}">
                      <a16:colId xmlns:a16="http://schemas.microsoft.com/office/drawing/2014/main" val="693607120"/>
                    </a:ext>
                  </a:extLst>
                </a:gridCol>
                <a:gridCol w="1921520">
                  <a:extLst>
                    <a:ext uri="{9D8B030D-6E8A-4147-A177-3AD203B41FA5}">
                      <a16:colId xmlns:a16="http://schemas.microsoft.com/office/drawing/2014/main" val="3733937400"/>
                    </a:ext>
                  </a:extLst>
                </a:gridCol>
                <a:gridCol w="1921697">
                  <a:extLst>
                    <a:ext uri="{9D8B030D-6E8A-4147-A177-3AD203B41FA5}">
                      <a16:colId xmlns:a16="http://schemas.microsoft.com/office/drawing/2014/main" val="561407827"/>
                    </a:ext>
                  </a:extLst>
                </a:gridCol>
              </a:tblGrid>
              <a:tr h="464283"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3-Node Instances</a:t>
                      </a:r>
                      <a:r>
                        <a:rPr lang="en-US" sz="1200" baseline="30000" dirty="0"/>
                        <a:t>*</a:t>
                      </a:r>
                      <a:endParaRPr lang="en-US" sz="1600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4-Node Instances</a:t>
                      </a:r>
                      <a:r>
                        <a:rPr lang="en-US" sz="1400" baseline="30000" dirty="0"/>
                        <a:t>*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5-Node Instances</a:t>
                      </a:r>
                      <a:r>
                        <a:rPr lang="en-US" sz="1400" baseline="30000" dirty="0"/>
                        <a:t>*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764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webkb-wisc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459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5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7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44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cora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2.7k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5.3k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6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7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560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political-retweets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18.5k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48k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8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10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523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DBLP4areas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15.6k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51.4k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6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8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10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054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visualize-us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595k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3.2M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10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15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42F5A"/>
                          </a:solidFill>
                        </a:rPr>
                        <a:t>10</a:t>
                      </a:r>
                      <a:r>
                        <a:rPr lang="en-US" b="1" baseline="30000" dirty="0">
                          <a:solidFill>
                            <a:srgbClr val="C42F5A"/>
                          </a:solidFill>
                        </a:rPr>
                        <a:t>18</a:t>
                      </a:r>
                      <a:endParaRPr lang="en-US" b="1" dirty="0">
                        <a:solidFill>
                          <a:srgbClr val="C42F5A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73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Telecom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170k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8.9M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9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12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DA260"/>
                          </a:solidFill>
                        </a:rPr>
                        <a:t>10</a:t>
                      </a:r>
                      <a:r>
                        <a:rPr lang="en-US" b="1" baseline="30000" dirty="0">
                          <a:solidFill>
                            <a:srgbClr val="FDA260"/>
                          </a:solidFill>
                        </a:rPr>
                        <a:t>16</a:t>
                      </a:r>
                      <a:endParaRPr lang="en-US" b="1" dirty="0">
                        <a:solidFill>
                          <a:srgbClr val="FDA26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9078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/>
                        <a:t>DBLPfull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10.5M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29.9M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10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14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DA260"/>
                          </a:solidFill>
                        </a:rPr>
                        <a:t>10</a:t>
                      </a:r>
                      <a:r>
                        <a:rPr lang="en-US" b="1" baseline="30000" dirty="0">
                          <a:solidFill>
                            <a:srgbClr val="FDA260"/>
                          </a:solidFill>
                        </a:rPr>
                        <a:t>17</a:t>
                      </a:r>
                      <a:endParaRPr lang="en-US" b="1" dirty="0">
                        <a:solidFill>
                          <a:srgbClr val="FDA26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79745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/>
                        <a:t>orkut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11.8M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176M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11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14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DA260"/>
                          </a:solidFill>
                        </a:rPr>
                        <a:t>10</a:t>
                      </a:r>
                      <a:r>
                        <a:rPr lang="en-US" b="1" baseline="30000" dirty="0">
                          <a:solidFill>
                            <a:srgbClr val="FDA260"/>
                          </a:solidFill>
                        </a:rPr>
                        <a:t>17</a:t>
                      </a:r>
                      <a:endParaRPr lang="en-US" b="1" dirty="0">
                        <a:solidFill>
                          <a:srgbClr val="FDA26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33692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7EEEDC7-2A7C-4321-90CF-681A80CD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7438BB0-29C1-4FD7-8A64-2A4C04F81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12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C9A797-CCF1-407B-B6AC-095F8B9A7D4B}"/>
              </a:ext>
            </a:extLst>
          </p:cNvPr>
          <p:cNvSpPr txBox="1"/>
          <p:nvPr/>
        </p:nvSpPr>
        <p:spPr>
          <a:xfrm>
            <a:off x="10584180" y="5545385"/>
            <a:ext cx="944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aseline="30000" dirty="0"/>
              <a:t>*</a:t>
            </a:r>
            <a:r>
              <a:rPr lang="en-US" dirty="0"/>
              <a:t>(</a:t>
            </a:r>
            <a:r>
              <a:rPr lang="en-US" dirty="0" err="1"/>
              <a:t>OoM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89364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902B-772F-4F2D-B49C-124A939EE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B0BA86-A042-43CA-9528-DCEBE0399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6678" y="2069359"/>
            <a:ext cx="54160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Benchmarks</a:t>
            </a:r>
            <a:br>
              <a:rPr lang="en-US" b="1" dirty="0"/>
            </a:br>
            <a:endParaRPr lang="en-US" sz="1200" b="1" dirty="0"/>
          </a:p>
          <a:p>
            <a:r>
              <a:rPr lang="en-US" dirty="0"/>
              <a:t> ESCAPE </a:t>
            </a:r>
            <a:r>
              <a:rPr lang="en-US" sz="2000" dirty="0"/>
              <a:t>[1]</a:t>
            </a:r>
            <a:r>
              <a:rPr lang="en-US" dirty="0"/>
              <a:t> 		     </a:t>
            </a:r>
            <a:r>
              <a:rPr lang="en-US" sz="2000" i="1" dirty="0"/>
              <a:t>(untyped)</a:t>
            </a:r>
            <a:endParaRPr lang="en-US" i="1" dirty="0"/>
          </a:p>
          <a:p>
            <a:r>
              <a:rPr lang="en-US" dirty="0"/>
              <a:t> PGD </a:t>
            </a:r>
            <a:r>
              <a:rPr lang="en-US" sz="2000" dirty="0"/>
              <a:t>[2] </a:t>
            </a:r>
            <a:r>
              <a:rPr lang="en-US" dirty="0"/>
              <a:t>	     </a:t>
            </a:r>
            <a:r>
              <a:rPr lang="en-US" sz="2000" i="1" dirty="0"/>
              <a:t>(untyped, only 3-, 4-node)</a:t>
            </a:r>
          </a:p>
          <a:p>
            <a:r>
              <a:rPr lang="en-US" sz="2000" i="1" dirty="0"/>
              <a:t> </a:t>
            </a:r>
            <a:r>
              <a:rPr lang="en-US" dirty="0"/>
              <a:t>TG </a:t>
            </a:r>
            <a:r>
              <a:rPr lang="en-US" sz="2000" dirty="0"/>
              <a:t>[3] </a:t>
            </a:r>
            <a:r>
              <a:rPr lang="en-US" dirty="0"/>
              <a:t>		      </a:t>
            </a:r>
            <a:r>
              <a:rPr lang="en-US" sz="2000" i="1" dirty="0"/>
              <a:t>(only 3-, 4-node)</a:t>
            </a:r>
            <a:endParaRPr lang="en-US" i="1" dirty="0"/>
          </a:p>
          <a:p>
            <a:r>
              <a:rPr lang="en-US" dirty="0"/>
              <a:t> GC </a:t>
            </a:r>
            <a:r>
              <a:rPr lang="en-US" sz="2000" dirty="0"/>
              <a:t>[4]</a:t>
            </a:r>
            <a:r>
              <a:rPr lang="en-US" dirty="0"/>
              <a:t> 		     </a:t>
            </a:r>
            <a:r>
              <a:rPr lang="en-US" sz="2000" i="1" dirty="0"/>
              <a:t>(simpler problem)</a:t>
            </a:r>
            <a:endParaRPr lang="en-US" i="1" dirty="0"/>
          </a:p>
          <a:p>
            <a:r>
              <a:rPr lang="en-US" b="1" dirty="0">
                <a:solidFill>
                  <a:srgbClr val="FED57A"/>
                </a:solidFill>
              </a:rPr>
              <a:t> </a:t>
            </a:r>
            <a:r>
              <a:rPr lang="en-US" b="1" dirty="0">
                <a:solidFill>
                  <a:srgbClr val="FDA260"/>
                </a:solidFill>
              </a:rPr>
              <a:t>CaTSCAN </a:t>
            </a:r>
            <a:r>
              <a:rPr lang="en-US" sz="2000" dirty="0">
                <a:solidFill>
                  <a:srgbClr val="FED57A"/>
                </a:solidFill>
              </a:rPr>
              <a:t>[5]		     </a:t>
            </a:r>
            <a:r>
              <a:rPr lang="en-US" sz="2000" i="1" dirty="0">
                <a:solidFill>
                  <a:srgbClr val="FED57A"/>
                </a:solidFill>
              </a:rPr>
              <a:t>(this work)</a:t>
            </a:r>
            <a:endParaRPr lang="en-US" i="1" dirty="0">
              <a:solidFill>
                <a:srgbClr val="FED57A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89401AC-A94F-4D60-BCD3-E58A136E6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160800"/>
              </p:ext>
            </p:extLst>
          </p:nvPr>
        </p:nvGraphicFramePr>
        <p:xfrm>
          <a:off x="838197" y="2052242"/>
          <a:ext cx="4757615" cy="342084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51892">
                  <a:extLst>
                    <a:ext uri="{9D8B030D-6E8A-4147-A177-3AD203B41FA5}">
                      <a16:colId xmlns:a16="http://schemas.microsoft.com/office/drawing/2014/main" val="1380494328"/>
                    </a:ext>
                  </a:extLst>
                </a:gridCol>
                <a:gridCol w="961293">
                  <a:extLst>
                    <a:ext uri="{9D8B030D-6E8A-4147-A177-3AD203B41FA5}">
                      <a16:colId xmlns:a16="http://schemas.microsoft.com/office/drawing/2014/main" val="2290437475"/>
                    </a:ext>
                  </a:extLst>
                </a:gridCol>
                <a:gridCol w="992553">
                  <a:extLst>
                    <a:ext uri="{9D8B030D-6E8A-4147-A177-3AD203B41FA5}">
                      <a16:colId xmlns:a16="http://schemas.microsoft.com/office/drawing/2014/main" val="931994901"/>
                    </a:ext>
                  </a:extLst>
                </a:gridCol>
                <a:gridCol w="851877">
                  <a:extLst>
                    <a:ext uri="{9D8B030D-6E8A-4147-A177-3AD203B41FA5}">
                      <a16:colId xmlns:a16="http://schemas.microsoft.com/office/drawing/2014/main" val="1776464846"/>
                    </a:ext>
                  </a:extLst>
                </a:gridCol>
              </a:tblGrid>
              <a:tr h="464283"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764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webkb-wisc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459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44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cora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2.7k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5.3k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560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political-retweets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18.5k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48k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523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DBLP4areas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15.6k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51.4k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054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visualize-us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595k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3.2M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73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Telecom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170k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8.9M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9078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/>
                        <a:t>DBLPfull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10.5M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29.9M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79745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/>
                        <a:t>orkut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11.8M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176M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336927"/>
                  </a:ext>
                </a:extLst>
              </a:tr>
            </a:tbl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0136E43-865C-45B3-A908-9F5850A5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698D-2B9C-4D95-A1B0-FF39A8CE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Only Untyped Counts Faster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06FB2-C951-41FB-A529-3FB81DE5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14</a:t>
            </a:fld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F4F1649-9F16-4D39-B612-BB369A28F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101" y="2313353"/>
            <a:ext cx="11168751" cy="411480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A7DAC66-3801-4F6F-BC4B-791F01B7C1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9447" y="1191604"/>
            <a:ext cx="4949619" cy="150334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E414002-50AB-4859-8092-2337903F19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456" y="1191705"/>
            <a:ext cx="4460258" cy="15032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F106C8-122D-45E1-8EF3-B164DD6B9833}"/>
              </a:ext>
            </a:extLst>
          </p:cNvPr>
          <p:cNvSpPr/>
          <p:nvPr/>
        </p:nvSpPr>
        <p:spPr>
          <a:xfrm>
            <a:off x="2765426" y="2605088"/>
            <a:ext cx="8588374" cy="3355200"/>
          </a:xfrm>
          <a:prstGeom prst="rect">
            <a:avLst/>
          </a:prstGeom>
          <a:solidFill>
            <a:srgbClr val="181F40"/>
          </a:solidFill>
          <a:ln>
            <a:solidFill>
              <a:srgbClr val="181F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81F4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4D64E9-9580-493A-8FDC-692E79CD8735}"/>
              </a:ext>
            </a:extLst>
          </p:cNvPr>
          <p:cNvSpPr/>
          <p:nvPr/>
        </p:nvSpPr>
        <p:spPr>
          <a:xfrm>
            <a:off x="6370970" y="2605088"/>
            <a:ext cx="4982829" cy="3355200"/>
          </a:xfrm>
          <a:prstGeom prst="rect">
            <a:avLst/>
          </a:prstGeom>
          <a:solidFill>
            <a:srgbClr val="181F40"/>
          </a:solidFill>
          <a:ln>
            <a:solidFill>
              <a:srgbClr val="181F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81F4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3F7520-E334-4AE8-B00A-D93C2AE6B965}"/>
              </a:ext>
            </a:extLst>
          </p:cNvPr>
          <p:cNvSpPr/>
          <p:nvPr/>
        </p:nvSpPr>
        <p:spPr>
          <a:xfrm>
            <a:off x="7702550" y="2605088"/>
            <a:ext cx="3651249" cy="3355200"/>
          </a:xfrm>
          <a:prstGeom prst="rect">
            <a:avLst/>
          </a:prstGeom>
          <a:solidFill>
            <a:srgbClr val="181F40"/>
          </a:solidFill>
          <a:ln>
            <a:solidFill>
              <a:srgbClr val="181F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81F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245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24D22-A0C7-47EA-9AFF-363A28562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Typed Counts are More Informative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7BFB2-4D14-4798-BFA6-5E149EC17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DBLP4areas: randomly shuffle the types (100 runs)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Observed (true) frequencies are </a:t>
            </a:r>
            <a:r>
              <a:rPr lang="en-US" b="1" dirty="0">
                <a:solidFill>
                  <a:srgbClr val="FDA260"/>
                </a:solidFill>
              </a:rPr>
              <a:t>systematic</a:t>
            </a:r>
            <a:r>
              <a:rPr lang="en-US" dirty="0"/>
              <a:t>, not random.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8A338-E896-483C-9721-B1D62988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15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903624-BD50-432C-9F0B-5B5AD1541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09" y="3030414"/>
            <a:ext cx="3134495" cy="2588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C011A8B-161A-4ACC-B9DD-75A74E219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3223" y="3030414"/>
            <a:ext cx="3134495" cy="25826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ED9DA91-DF6E-49E2-AA42-F004D5B52C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114" y="3019716"/>
            <a:ext cx="3134495" cy="25826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1E4202C-34C3-4A0B-A792-104F1413CF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855" y="2219571"/>
            <a:ext cx="2831029" cy="97002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DD4A1AA-5E7F-44A1-AA5D-17D983FDE5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26662" y="3278431"/>
            <a:ext cx="676275" cy="676275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BFFCA80-9586-4127-B96E-6F220960BF2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97078" y="3333261"/>
            <a:ext cx="480646" cy="480646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852D9C49-8238-4CB2-B175-F5F2EC636EB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2194" y="3333261"/>
            <a:ext cx="480646" cy="48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62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7D2EE-4157-4432-899A-949EE255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ABBE3-1514-4964-BE2F-55AA53A76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Got ideas? → </a:t>
            </a:r>
            <a:r>
              <a:rPr lang="en-US" b="1" dirty="0">
                <a:solidFill>
                  <a:srgbClr val="FDA260"/>
                </a:solidFill>
              </a:rPr>
              <a:t>Talk to me!</a:t>
            </a:r>
            <a:r>
              <a:rPr lang="en-US" dirty="0"/>
              <a:t> :)</a:t>
            </a:r>
          </a:p>
          <a:p>
            <a:endParaRPr lang="en-US" dirty="0"/>
          </a:p>
          <a:p>
            <a:r>
              <a:rPr lang="en-US" dirty="0"/>
              <a:t>Consider types on </a:t>
            </a:r>
            <a:r>
              <a:rPr lang="en-US" b="1" dirty="0">
                <a:solidFill>
                  <a:srgbClr val="FDA260"/>
                </a:solidFill>
              </a:rPr>
              <a:t>edges</a:t>
            </a:r>
            <a:r>
              <a:rPr lang="en-US" dirty="0"/>
              <a:t>, including</a:t>
            </a:r>
          </a:p>
          <a:p>
            <a:pPr lvl="1"/>
            <a:r>
              <a:rPr lang="en-US" dirty="0"/>
              <a:t>direction</a:t>
            </a:r>
          </a:p>
          <a:p>
            <a:pPr lvl="1"/>
            <a:r>
              <a:rPr lang="en-US" dirty="0"/>
              <a:t>multi-edges</a:t>
            </a:r>
          </a:p>
          <a:p>
            <a:pPr lvl="1"/>
            <a:endParaRPr lang="en-US" dirty="0"/>
          </a:p>
          <a:p>
            <a:r>
              <a:rPr lang="en-US" dirty="0"/>
              <a:t>Parallel and distributed solution</a:t>
            </a:r>
          </a:p>
          <a:p>
            <a:pPr lvl="1"/>
            <a:r>
              <a:rPr lang="en-US" dirty="0"/>
              <a:t>work in progress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E1988-34FC-493B-8223-8C4C9E4B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F80FBB-4795-4D97-A264-F234EC6FF0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09" t="8703" r="5682" b="7049"/>
          <a:stretch/>
        </p:blipFill>
        <p:spPr>
          <a:xfrm>
            <a:off x="7905051" y="1481933"/>
            <a:ext cx="4466703" cy="556363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826D8-B2F5-4D38-896D-557C2915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17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7776F4-6776-48DC-B04B-A48F4D558479}"/>
              </a:ext>
            </a:extLst>
          </p:cNvPr>
          <p:cNvSpPr txBox="1">
            <a:spLocks/>
          </p:cNvSpPr>
          <p:nvPr/>
        </p:nvSpPr>
        <p:spPr>
          <a:xfrm>
            <a:off x="838200" y="66320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Conclusion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8CE6FD-D110-4CDA-9019-4AEBC47B47D2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7281986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CaTSCAN counts </a:t>
            </a:r>
            <a:r>
              <a:rPr lang="en-US" b="1" dirty="0">
                <a:solidFill>
                  <a:srgbClr val="FDA260"/>
                </a:solidFill>
              </a:rPr>
              <a:t>typed 5-node </a:t>
            </a:r>
            <a:r>
              <a:rPr lang="en-US" dirty="0">
                <a:solidFill>
                  <a:srgbClr val="FED57A"/>
                </a:solidFill>
              </a:rPr>
              <a:t>graphlets</a:t>
            </a:r>
            <a:r>
              <a:rPr lang="en-US" dirty="0"/>
              <a:t> in HINs</a:t>
            </a:r>
          </a:p>
          <a:p>
            <a:r>
              <a:rPr lang="en-US" dirty="0"/>
              <a:t>Orders of magnitude faster than existing approaches</a:t>
            </a:r>
          </a:p>
          <a:p>
            <a:r>
              <a:rPr lang="en-US" dirty="0"/>
              <a:t>Only untyped counting is faster…</a:t>
            </a:r>
          </a:p>
          <a:p>
            <a:r>
              <a:rPr lang="en-US" dirty="0"/>
              <a:t>… but typed counts are more informative</a:t>
            </a:r>
          </a:p>
          <a:p>
            <a:r>
              <a:rPr lang="en-US" b="1" dirty="0">
                <a:solidFill>
                  <a:srgbClr val="FDA260"/>
                </a:solidFill>
              </a:rPr>
              <a:t>Don’t count – Calculate!</a:t>
            </a:r>
          </a:p>
        </p:txBody>
      </p:sp>
    </p:spTree>
    <p:extLst>
      <p:ext uri="{BB962C8B-B14F-4D97-AF65-F5344CB8AC3E}">
        <p14:creationId xmlns:p14="http://schemas.microsoft.com/office/powerpoint/2010/main" val="38125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F80FBB-4795-4D97-A264-F234EC6FF0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09" t="8703" r="5682" b="7049"/>
          <a:stretch/>
        </p:blipFill>
        <p:spPr>
          <a:xfrm>
            <a:off x="9219156" y="3118755"/>
            <a:ext cx="3152598" cy="392681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826D8-B2F5-4D38-896D-557C2915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18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7776F4-6776-48DC-B04B-A48F4D558479}"/>
              </a:ext>
            </a:extLst>
          </p:cNvPr>
          <p:cNvSpPr txBox="1">
            <a:spLocks/>
          </p:cNvSpPr>
          <p:nvPr/>
        </p:nvSpPr>
        <p:spPr>
          <a:xfrm>
            <a:off x="838200" y="66320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Conclusion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8CE6FD-D110-4CDA-9019-4AEBC47B47D2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7281986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CaTSCAN counts </a:t>
            </a:r>
            <a:r>
              <a:rPr lang="en-US" b="1" dirty="0">
                <a:solidFill>
                  <a:srgbClr val="FDA260"/>
                </a:solidFill>
              </a:rPr>
              <a:t>typed 5-node </a:t>
            </a:r>
            <a:r>
              <a:rPr lang="en-US" dirty="0">
                <a:solidFill>
                  <a:srgbClr val="FED57A"/>
                </a:solidFill>
              </a:rPr>
              <a:t>graphlets</a:t>
            </a:r>
            <a:r>
              <a:rPr lang="en-US" dirty="0"/>
              <a:t> in HINs</a:t>
            </a:r>
          </a:p>
          <a:p>
            <a:r>
              <a:rPr lang="en-US" dirty="0"/>
              <a:t>Orders of magnitude faster than existing approaches</a:t>
            </a:r>
          </a:p>
          <a:p>
            <a:r>
              <a:rPr lang="en-US" dirty="0"/>
              <a:t>Only untyped counting is faster…</a:t>
            </a:r>
          </a:p>
          <a:p>
            <a:r>
              <a:rPr lang="en-US" dirty="0"/>
              <a:t>… but typed counts are more informative</a:t>
            </a:r>
          </a:p>
          <a:p>
            <a:r>
              <a:rPr lang="en-US" b="1" dirty="0">
                <a:solidFill>
                  <a:srgbClr val="FDA260"/>
                </a:solidFill>
              </a:rPr>
              <a:t>Don’t count – Calculate!</a:t>
            </a:r>
          </a:p>
        </p:txBody>
      </p:sp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F02FBD47-6D23-4EFE-8B7F-0706BE83C24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4" t="9403" r="9444" b="9768"/>
          <a:stretch/>
        </p:blipFill>
        <p:spPr>
          <a:xfrm>
            <a:off x="8977844" y="344402"/>
            <a:ext cx="2786133" cy="27743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A4520E-25F2-48FD-906B-741B05A16D1F}"/>
              </a:ext>
            </a:extLst>
          </p:cNvPr>
          <p:cNvSpPr txBox="1"/>
          <p:nvPr/>
        </p:nvSpPr>
        <p:spPr>
          <a:xfrm rot="16200000">
            <a:off x="7523515" y="1544485"/>
            <a:ext cx="22447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DA2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christianbeth.com</a:t>
            </a:r>
          </a:p>
        </p:txBody>
      </p:sp>
      <p:sp>
        <p:nvSpPr>
          <p:cNvPr id="10" name="Rectangle 9">
            <a:hlinkClick r:id="rId3"/>
            <a:extLst>
              <a:ext uri="{FF2B5EF4-FFF2-40B4-BE49-F238E27FC236}">
                <a16:creationId xmlns:a16="http://schemas.microsoft.com/office/drawing/2014/main" id="{6AB3E965-46A0-45B1-835E-3592A9D04371}"/>
              </a:ext>
            </a:extLst>
          </p:cNvPr>
          <p:cNvSpPr/>
          <p:nvPr/>
        </p:nvSpPr>
        <p:spPr>
          <a:xfrm>
            <a:off x="8420809" y="712665"/>
            <a:ext cx="450129" cy="2063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2BD99C-AEC6-469C-8C51-E9DFFEA0E2E2}"/>
              </a:ext>
            </a:extLst>
          </p:cNvPr>
          <p:cNvSpPr txBox="1"/>
          <p:nvPr/>
        </p:nvSpPr>
        <p:spPr>
          <a:xfrm>
            <a:off x="4015221" y="5915353"/>
            <a:ext cx="4161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Speaker: </a:t>
            </a:r>
            <a:r>
              <a:rPr lang="en-US" sz="2800" b="1" dirty="0">
                <a:solidFill>
                  <a:srgbClr val="FDA260"/>
                </a:solidFill>
              </a:rPr>
              <a:t>Christian Beth</a:t>
            </a:r>
          </a:p>
        </p:txBody>
      </p:sp>
    </p:spTree>
    <p:extLst>
      <p:ext uri="{BB962C8B-B14F-4D97-AF65-F5344CB8AC3E}">
        <p14:creationId xmlns:p14="http://schemas.microsoft.com/office/powerpoint/2010/main" val="5604390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457D8-1F63-4C6C-876E-C12105D3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Special 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1C514-8BA7-4D5E-AE3B-3ACEA7392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Mattis thor Straten (CAU)</a:t>
            </a:r>
          </a:p>
          <a:p>
            <a:pPr>
              <a:lnSpc>
                <a:spcPct val="150000"/>
              </a:lnSpc>
            </a:pPr>
            <a:r>
              <a:rPr lang="en-US" dirty="0"/>
              <a:t>Felix Rodriguez Rasmussen (CAU)</a:t>
            </a:r>
          </a:p>
          <a:p>
            <a:pPr>
              <a:lnSpc>
                <a:spcPct val="150000"/>
              </a:lnSpc>
            </a:pPr>
            <a:r>
              <a:rPr lang="en-US" dirty="0"/>
              <a:t>Matin Najafi (HKU)</a:t>
            </a:r>
          </a:p>
          <a:p>
            <a:pPr>
              <a:lnSpc>
                <a:spcPct val="150000"/>
              </a:lnSpc>
            </a:pPr>
            <a:r>
              <a:rPr lang="en-US" dirty="0"/>
              <a:t>Prof. Reynold Cheng (HKU)</a:t>
            </a:r>
          </a:p>
          <a:p>
            <a:pPr>
              <a:lnSpc>
                <a:spcPct val="150000"/>
              </a:lnSpc>
            </a:pPr>
            <a:r>
              <a:rPr lang="en-US" dirty="0"/>
              <a:t>Prof. Matthias Renz (CAU)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6D53E-064F-4D56-BD6C-29B94168A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5149" y="2038628"/>
            <a:ext cx="2780050" cy="923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4E5588-B1B9-432C-9BB4-3F4CE79B29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741" y="3895415"/>
            <a:ext cx="3922865" cy="1327904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4A182A7-92DA-4F95-AF8A-B50940E07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58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BB68C-1EF8-4084-8628-93DB8537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0616-6AB1-4372-B834-ED0D7B076617}" type="slidenum">
              <a:rPr lang="en-US" smtClean="0"/>
              <a:t>20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1D886B-4B55-4494-8CEA-593DDCC46CF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5320" y="365125"/>
            <a:ext cx="10515600" cy="1325563"/>
          </a:xfrm>
        </p:spPr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7880E-417C-4639-BD86-066A7565043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5532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[1] Pinar, A., </a:t>
            </a:r>
            <a:r>
              <a:rPr lang="en-US" sz="1600" dirty="0" err="1"/>
              <a:t>Seshadhri</a:t>
            </a:r>
            <a:r>
              <a:rPr lang="en-US" sz="1600" dirty="0"/>
              <a:t>, C., Vishal, V.: “ESCAPE: Efficiently counting all 5-vertex subgraphs”. In: </a:t>
            </a:r>
            <a:r>
              <a:rPr lang="en-US" sz="1600" i="1" dirty="0"/>
              <a:t>Proceedings of the 26th international conference on world wide web</a:t>
            </a:r>
            <a:r>
              <a:rPr lang="en-US" sz="1600" dirty="0"/>
              <a:t>. pp. 1431–1440 (2017)</a:t>
            </a:r>
          </a:p>
          <a:p>
            <a:pPr marL="0" indent="0">
              <a:buNone/>
            </a:pPr>
            <a:r>
              <a:rPr lang="en-US" sz="1600" dirty="0"/>
              <a:t>[2] Ahmed, N.K., Neville, J., Rossi, R.A., Duffield, N.: “Efficient graphlet counting for large networks”. In: </a:t>
            </a:r>
            <a:r>
              <a:rPr lang="en-US" sz="1600" i="1" dirty="0"/>
              <a:t>2015 IEEE International Conference on Data Mining</a:t>
            </a:r>
            <a:r>
              <a:rPr lang="en-US" sz="1600" dirty="0"/>
              <a:t>. pp. 1–10. IEEE (2015)</a:t>
            </a:r>
          </a:p>
          <a:p>
            <a:pPr marL="0" indent="0">
              <a:buNone/>
            </a:pPr>
            <a:r>
              <a:rPr lang="en-US" sz="1600" dirty="0"/>
              <a:t>[3] Rossi, R.A., Ahmed, N.K., Carranza, A., </a:t>
            </a:r>
            <a:r>
              <a:rPr lang="en-US" sz="1600" dirty="0" err="1"/>
              <a:t>Arbour</a:t>
            </a:r>
            <a:r>
              <a:rPr lang="en-US" sz="1600" dirty="0"/>
              <a:t>, D., Rao, A., Kim, S., Koh, E.: “Heterogeneous graphlets”. In: </a:t>
            </a:r>
            <a:r>
              <a:rPr lang="en-US" sz="1600" i="1" dirty="0"/>
              <a:t>ACM Transactions on Knowledge Discovery from Data (TKDD)</a:t>
            </a:r>
            <a:r>
              <a:rPr lang="en-US" sz="1600" dirty="0"/>
              <a:t> 15(1), 1–43 (2020)</a:t>
            </a:r>
          </a:p>
          <a:p>
            <a:pPr marL="0" indent="0">
              <a:buNone/>
            </a:pPr>
            <a:r>
              <a:rPr lang="en-US" sz="1600" dirty="0"/>
              <a:t>[4] Gu, S., Johnson, J., Faisal, F.E., </a:t>
            </a:r>
            <a:r>
              <a:rPr lang="en-US" sz="1600" dirty="0" err="1"/>
              <a:t>Milenković</a:t>
            </a:r>
            <a:r>
              <a:rPr lang="en-US" sz="1600" dirty="0"/>
              <a:t>, T.: “From homogeneous to heterogeneous network alignment via colored graphlets”. In: </a:t>
            </a:r>
            <a:r>
              <a:rPr lang="en-US" sz="1600" i="1" dirty="0"/>
              <a:t>Scientific reports</a:t>
            </a:r>
            <a:r>
              <a:rPr lang="en-US" sz="1600" dirty="0"/>
              <a:t> 8(1), 1–16 (2018)</a:t>
            </a:r>
          </a:p>
          <a:p>
            <a:pPr marL="0" indent="0">
              <a:buNone/>
            </a:pPr>
            <a:r>
              <a:rPr lang="en-US" sz="1600" dirty="0"/>
              <a:t>[5] Beth, C., thor Straten, M., Rodriguez Rasmussen, F., Najafi, M.M., Cheng, R., Renz, M.: “CaTSCAN: Calculating Typed Subgraph Counts Analytically for Networks”. In: </a:t>
            </a:r>
            <a:r>
              <a:rPr lang="en-US" sz="1600" i="1" dirty="0"/>
              <a:t>Machine Learning and Knowledge Discovery in Databases. Research Track. ECML PKDD 2026 (in press)</a:t>
            </a:r>
          </a:p>
          <a:p>
            <a:pPr marL="0" indent="0">
              <a:buNone/>
            </a:pPr>
            <a:r>
              <a:rPr lang="en-US" sz="1600" dirty="0"/>
              <a:t>[6] Beth, C., thor Straten, M., Rodriguez Rasmussen, F., Najafi, M.M., Cheng, R., Renz, M.: Supplementary Appendix for the Paper “CaTSCAN: Calculating Typed Subgraph Counts Analytically for Networks”. </a:t>
            </a:r>
            <a:r>
              <a:rPr lang="en-US" sz="1600" dirty="0">
                <a:hlinkClick r:id="rId2"/>
              </a:rPr>
              <a:t>https://zenodo.org/records/20664518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17377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">
      <a:dk1>
        <a:srgbClr val="FED57A"/>
      </a:dk1>
      <a:lt1>
        <a:sysClr val="window" lastClr="FFFFFF"/>
      </a:lt1>
      <a:dk2>
        <a:srgbClr val="FED57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1164</Words>
  <Application>Microsoft Office PowerPoint</Application>
  <PresentationFormat>Widescreen</PresentationFormat>
  <Paragraphs>261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 Math</vt:lpstr>
      <vt:lpstr>Office Theme</vt:lpstr>
      <vt:lpstr>PowerPoint Presentation</vt:lpstr>
      <vt:lpstr>What are the Building Blocks of a Network?</vt:lpstr>
      <vt:lpstr>(Untyped) Graphlets</vt:lpstr>
      <vt:lpstr>Heterogeneous Information Networks (HINs)</vt:lpstr>
      <vt:lpstr>Typed Graphlets</vt:lpstr>
      <vt:lpstr>Contributions of CaTSCAN</vt:lpstr>
      <vt:lpstr>Counting (Untyped) Graphlets</vt:lpstr>
      <vt:lpstr>Why Enumerating is a Bad Idea…</vt:lpstr>
      <vt:lpstr>The Ideas that Count</vt:lpstr>
      <vt:lpstr>Calculate with Combinatorics (Untyped)</vt:lpstr>
      <vt:lpstr>Preserving the Types</vt:lpstr>
      <vt:lpstr>Experiments</vt:lpstr>
      <vt:lpstr>Experiments</vt:lpstr>
      <vt:lpstr>Only Untyped Counts Faster</vt:lpstr>
      <vt:lpstr>Typed Counts are More Informative</vt:lpstr>
      <vt:lpstr>Future Work</vt:lpstr>
      <vt:lpstr>PowerPoint Presentation</vt:lpstr>
      <vt:lpstr>PowerPoint Presentation</vt:lpstr>
      <vt:lpstr>Special Thanks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 A CaTSCAN for Networks: Identifying a Networks Building Blocks</dc:title>
  <dc:creator>Christian Beth</dc:creator>
  <cp:lastModifiedBy>Christian Beth</cp:lastModifiedBy>
  <cp:revision>140</cp:revision>
  <dcterms:created xsi:type="dcterms:W3CDTF">2026-08-25T14:51:16Z</dcterms:created>
  <dcterms:modified xsi:type="dcterms:W3CDTF">2026-08-28T16:54:34Z</dcterms:modified>
</cp:coreProperties>
</file>